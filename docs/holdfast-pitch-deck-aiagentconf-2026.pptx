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beat of silence. Let the slide breathe.</a:t>
            </a:r>
          </a:p>
          <a:p/>
          <a:p>
            <a:r>
              <a:t>"Today I'm going to show you the missing accountability layer for the agent economy. Five minutes. Three primitives. One devnet you can use today."</a:t>
            </a:r>
          </a:p>
          <a:p/>
          <a:p>
            <a:r>
              <a:t>Pace: slow, confident. Stay on this slide for 5-8 seconds before advancing. It sets the register for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0:00–0:45</a:t>
            </a:r>
          </a:p>
          <a:p/>
          <a:p>
            <a:r>
              <a:t>"AI agents are executing transactions, managing funds, and settling contracts without human intervention right now. The Colosseum AI hackathon alone produced 21,000 agents in February. These agents are making real decisions with real money."</a:t>
            </a:r>
          </a:p>
          <a:p/>
          <a:p>
            <a:r>
              <a:t>"But the infrastructure they run on was never designed for this. Agents authenticate with software keys stored in environment variables. One compromised service and your agent's signing key is gone."</a:t>
            </a:r>
          </a:p>
          <a:p/>
          <a:p>
            <a:r>
              <a:t>"There's no standard for 'who is this agent', 'can it be trusted', or 'what happens if it cheats.'"</a:t>
            </a:r>
          </a:p>
          <a:p/>
          <a:p>
            <a:r>
              <a:t>"That's not a small gap. That's the missing accountability layer for the entire agent economy."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0:45–1:20</a:t>
            </a:r>
          </a:p>
          <a:p/>
          <a:p>
            <a:r>
              <a:t>"The trust gap is actually three problems layered on top of each other."</a:t>
            </a:r>
          </a:p>
          <a:p/>
          <a:p>
            <a:r>
              <a:t>"First: identity. A software key tells you nothing — it can be copied, stolen, or spoofed."</a:t>
            </a:r>
          </a:p>
          <a:p/>
          <a:p>
            <a:r>
              <a:t>"Second: reputation. There's no on-chain track record. You can't know whether the agent you're about to trust has ever successfully completed anything."</a:t>
            </a:r>
          </a:p>
          <a:p/>
          <a:p>
            <a:r>
              <a:t>"Third: enforcement. Even if you could verify identity and reputation, there's no programmable settlement layer — no way to lock funds, define release conditions, and resolve disputes with on-chain finality."</a:t>
            </a:r>
          </a:p>
          <a:p/>
          <a:p>
            <a:r>
              <a:t>"Holdfast Protocol solves all three."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1:20–1:45</a:t>
            </a:r>
          </a:p>
          <a:p/>
          <a:p>
            <a:r>
              <a:t>"Holdfast Protocol is trust infrastructure for the AI agent economy, deployed natively on Solana. It gives autonomous agents three things they've never had: a verifiable identity, an on-chain reputation score, and a programmable escrow contract they cannot break."</a:t>
            </a:r>
          </a:p>
          <a:p/>
          <a:p>
            <a:r>
              <a:t>"Each primitive is independent but composable. You can read an agent's reputation before accepting any pact. You can gate escrow creation on a minimum reputation score. The chain enforces it."</a:t>
            </a:r>
          </a:p>
          <a:p/>
          <a:p>
            <a:r>
              <a:t>"All three are live on devnet today."</a:t>
            </a:r>
          </a:p>
          <a:p/>
          <a:p>
            <a:r>
              <a:t>Advance quickly — you have 5 minutes total.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~1:45</a:t>
            </a:r>
          </a:p>
          <a:p/>
          <a:p>
            <a:r>
              <a:t>"The identity primitive uses secp256r1 — P-256 — the same elliptic curve used by hardware security keys, Apple Secure Enclave, and WebAuthn. Hardware-rootable. Can't be trivially copied."</a:t>
            </a:r>
          </a:p>
          <a:p/>
          <a:p>
            <a:r>
              <a:t>"When an agent registers, it generates a P-256 keypair and proves possession on-chain using Solana's native secp256r1 precompile — SIMD-48. Instruction-level primitive, not a smart contract. Attestation verified in the same instruction as program execution. No separate round-trip."</a:t>
            </a:r>
          </a:p>
          <a:p/>
          <a:p>
            <a:r>
              <a:t>"Full TPM and TEE hardware attestation — integrating with our Hardline Protocol — is on the roadmap. What's live today is secp256r1 self-attestation. Already meaningfully stronger than any software key."</a:t>
            </a:r>
          </a:p>
          <a:p/>
          <a:p>
            <a:r>
              <a:t>TIME CHECK: you should be at ~1:20 on the clock.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a:t>
            </a:r>
          </a:p>
          <a:p/>
          <a:p>
            <a:r>
              <a:t>"The reputation primitive is an on-chain oracle. Scores run 0 to 10,000 basis points — 5,000 is neutral. Every time an agent fulfills or disputes a pact, the escrow settlement program — a program PDA, not a human — posts a signed reputation update."</a:t>
            </a:r>
          </a:p>
          <a:p/>
          <a:p>
            <a:r>
              <a:t>"No centralized reputation manipulation. The oracle authority is a program account. The whole history is on-chain, auditable by anyone."</a:t>
            </a:r>
          </a:p>
          <a:p/>
          <a:p>
            <a:r>
              <a:t>"The killer feature: because the reputation account is a PDA, any other Solana program can read it via CPI. One account read. No oracle fee, no bridge, no cross-chain message."</a:t>
            </a:r>
          </a:p>
          <a:p/>
          <a:p>
            <a:r>
              <a:t>"Scores decay lazily toward neutral when inactive — a simple, transparent design to prevent permanent reputation from stale accounts."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~2:30</a:t>
            </a:r>
          </a:p>
          <a:p/>
          <a:p>
            <a:r>
              <a:t>"The escrow primitive is programmable settlement. You define release conditions at creation time: task-based, milestone-gated, or time-locked. Funds lock at pact initiation. Releasing opens a dispute window before final settlement."</a:t>
            </a:r>
          </a:p>
          <a:p/>
          <a:p>
            <a:r>
              <a:t>"The three primitives compose naturally. When you create a pact, you can require a minimum reputation threshold for the counterparty. The SDK runs a pre-flight before the transaction hits the chain — if the counterparty doesn't qualify, clean error before any fees are paid."</a:t>
            </a:r>
          </a:p>
          <a:p/>
          <a:p>
            <a:r>
              <a:t>"The dispute path has on-chain finality. An arbiter — a multisig or another program — resolves disputes and the outcome posts back to the reputation oracle. Bad behavior has real, on-chain consequences."</a:t>
            </a:r>
          </a:p>
          <a:p/>
          <a:p>
            <a:r>
              <a:t>TIME CHECK: you should be at ~2:30 on the clock.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~3:00</a:t>
            </a:r>
          </a:p>
          <a:p/>
          <a:p>
            <a:r>
              <a:t>"Why Solana? Two reasons: cost and composability."</a:t>
            </a:r>
          </a:p>
          <a:p/>
          <a:p>
            <a:r>
              <a:t>"EAS and its EVM derivatives work — but the design shows it. Attestation records are separate from the execution environment. Verification requires cross-contract calls with EVM gas overhead. At 12-second block times and real gas costs, that's a real constraint for agent economies."</a:t>
            </a:r>
          </a:p>
          <a:p/>
          <a:p>
            <a:r>
              <a:t>"Holdfast Protocol is Solana-native. The secp256r1 precompile is an instruction-level primitive — attestation in the same instruction as the program call. ~400ms finality at a fraction of a cent. For agents signing dozens of transactions per hour, that cost difference compounds."</a:t>
            </a:r>
          </a:p>
          <a:p/>
          <a:p>
            <a:r>
              <a:t>"And composability: any Solana program can read agent reputation via a single CPI account read. No oracle fee, no bridge, no cross-chain message."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3:15–4:15</a:t>
            </a:r>
          </a:p>
          <a:p/>
          <a:p>
            <a:r>
              <a:t>"Let me show you what this looks like in practice. This is a real Solana devnet run — not a simulation."</a:t>
            </a:r>
          </a:p>
          <a:p/>
          <a:p>
            <a:r>
              <a:t>[If showing live demo video]: "We're watching a 90-second clip. Three moments: the registerAgentWallet transaction landing in a real Solana block, the oracle reputation update with score ticking from 5000 to 5200, and the SDK query returning a clean attestation report."</a:t>
            </a:r>
          </a:p>
          <a:p/>
          <a:p>
            <a:r>
              <a:t>[If not playing video]: "The full demo is at the QR code — I'd encourage you to run it yourself. ~5 minutes from npm install to your first on-chain agent registration."</a:t>
            </a:r>
          </a:p>
          <a:p/>
          <a:p>
            <a:r>
              <a:t>"Everything you see is live on devnet. Program ID is in Solana Explorer. The SDK is on npm right now."</a:t>
            </a:r>
          </a:p>
          <a:p/>
          <a:p>
            <a:r>
              <a:t>NOTE: Replace [link placeholder] with Video Editor's recording link once received (expected Apr 28).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~4:15 (brief slide — 20 seconds)</a:t>
            </a:r>
          </a:p>
          <a:p/>
          <a:p>
            <a:r>
              <a:t>"Here's exactly what's live and what's not — no overclaiming."</a:t>
            </a:r>
          </a:p>
          <a:p/>
          <a:p>
            <a:r>
              <a:t>"The SDK is published. The programs are on devnet. The operator dashboard is running. You can install, connect a devnet wallet, register an agent identity, and read your reputation score today."</a:t>
            </a:r>
          </a:p>
          <a:p/>
          <a:p>
            <a:r>
              <a:t>"What's not live: full hardware TPM/TEE attestation — roadmap for Q4. Mainnet deployment is gated on the external security audit, which is in progress."</a:t>
            </a:r>
          </a:p>
          <a:p/>
          <a:p>
            <a:r>
              <a:t>"No token. Business model is protocol fees on real usage."</a:t>
            </a:r>
          </a:p>
          <a:p/>
          <a:p>
            <a:r>
              <a:t>"We're telling you exactly what's done and what isn't. That's the kind of team you want to build on."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~4:15 (30 seconds)</a:t>
            </a:r>
          </a:p>
          <a:p/>
          <a:p>
            <a:r>
              <a:t>"Three names you'll hear compared to us: EAS, Vouch, Warden."</a:t>
            </a:r>
          </a:p>
          <a:p/>
          <a:p>
            <a:r>
              <a:t>"EAS: general-purpose attestation on EVM. Not designed for AI agents, not on Solana, no escrow or financial enforcement."</a:t>
            </a:r>
          </a:p>
          <a:p/>
          <a:p>
            <a:r>
              <a:t>"Vouch: off-chain identity tool — Python library, SSH keys, Git signing, DIDs. Gives an agent a verified ID badge. Cannot hold assets, slash stake, or resolve a dispute. We see Vouch as a potential integration partner — a Vouch DID could feed a Holdfast agent registration. If you're talking to their team here, tell them we want to connect."</a:t>
            </a:r>
          </a:p>
          <a:p/>
          <a:p>
            <a:r>
              <a:t>"Warden: enterprise MPC key management. Not designed for on-chain agent trust."</a:t>
            </a:r>
          </a:p>
          <a:p/>
          <a:p>
            <a:r>
              <a:t>"Our moat: Solana-native hardware attestation, on-chain reputation, and programmable escrow in a single composable stack."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~4:30 (30 seconds)</a:t>
            </a:r>
          </a:p>
          <a:p/>
          <a:p>
            <a:r>
              <a:t>"We're building for the Solana AI agent ecosystem, not against it."</a:t>
            </a:r>
          </a:p>
          <a:p/>
          <a:p>
            <a:r>
              <a:t>"Integration proposals in progress with ElizaOS and Solana Agent Kit — any agent on those frameworks can register with Holdfast Protocol in a single SDK call. We want to talk to those teams here this week."</a:t>
            </a:r>
          </a:p>
          <a:p/>
          <a:p>
            <a:r>
              <a:t>"For DeFi protocols: if you're allowing agents to execute trades or manage positions, the reputation oracle is a CPI call away. Gate agent access to high-risk operations on a minimum reputation score before any funds move."</a:t>
            </a:r>
          </a:p>
          <a:p/>
          <a:p>
            <a:r>
              <a:t>"We're here specifically to meet builders. If you're in agent frameworks or DeFi and you need an accountability layer, find us."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4:15–5:00</a:t>
            </a:r>
          </a:p>
          <a:p/>
          <a:p>
            <a:r>
              <a:t>"Three things I want you to do in the next 48 hours."</a:t>
            </a:r>
          </a:p>
          <a:p/>
          <a:p>
            <a:r>
              <a:t>"One: install the SDK. npm install @holdfastprotocol/sdk@devnet. Connects to devnet. No mainnet risk. Register an agent identity. Query a reputation score. Tell us what's broken."</a:t>
            </a:r>
          </a:p>
          <a:p/>
          <a:p>
            <a:r>
              <a:t>"Two: if you're building an agent framework or a DeFi protocol that uses agents, come find us at the conference. We're actively looking for integration partners before mainnet. That's an opportunity to shape the standard."</a:t>
            </a:r>
          </a:p>
          <a:p/>
          <a:p>
            <a:r>
              <a:t>"Three: follow @CasemateLabs for the audit timeline and mainnet launch. The audit is in progress. When it's done, this goes to mainnet. You want to be building on it before that happens."</a:t>
            </a:r>
          </a:p>
          <a:p/>
          <a:p>
            <a:r>
              <a:t>"The programs are live. The SDK is published. Devnet is open. The accountability layer for the agent economy — let's build it together."</a:t>
            </a:r>
          </a:p>
          <a:p/>
          <a:p>
            <a:r>
              <a:t>END OF TALK — hold this slide until the clock hits 5:00.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ANTICIPATED QUESTIONS:</a:t>
            </a:r>
          </a:p>
          <a:p/>
          <a:p>
            <a:r>
              <a:t>"How is this different from Vouch?"</a:t>
            </a:r>
          </a:p>
          <a:p>
            <a:r>
              <a:t>→ "Vouch is an off-chain identity tool — signs Git commits, issues DIDs. Zero on-chain enforcement. No escrow, no dispute resolution, no financial consequences. We're the enforcement layer. They're actually a complementary integration partner."</a:t>
            </a:r>
          </a:p>
          <a:p/>
          <a:p>
            <a:r>
              <a:t>"Why not use EAS on Ethereum?"</a:t>
            </a:r>
          </a:p>
          <a:p>
            <a:r>
              <a:t>→ "EAS is general-purpose attestation on EVM. Not designed for AI agents, not on Solana, no escrow or financial enforcement. EVM gas at scale is a real constraint."</a:t>
            </a:r>
          </a:p>
          <a:p/>
          <a:p>
            <a:r>
              <a:t>"When is mainnet?"</a:t>
            </a:r>
          </a:p>
          <a:p>
            <a:r>
              <a:t>→ "After the external audit completes. We're not setting a hard date — audit timeline drives it. We'd rather ship secure than fast."</a:t>
            </a:r>
          </a:p>
          <a:p/>
          <a:p>
            <a:r>
              <a:t>"Is there a token?"</a:t>
            </a:r>
          </a:p>
          <a:p>
            <a:r>
              <a:t>→ "No token. Revenue model is protocol fees on real usage — registrations, escrow settlements."</a:t>
            </a:r>
          </a:p>
          <a:p/>
          <a:p>
            <a:r>
              <a:t>"Can I use this with ElizaOS / Solana Agent Kit?"</a:t>
            </a:r>
          </a:p>
          <a:p>
            <a:r>
              <a:t>→ "Integration proposals in progress. Come find us at the conference if you're building on those frameworks."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8686800" y="-457200"/>
            <a:ext cx="3657600" cy="4572000"/>
          </a:xfrm>
          <a:prstGeom prst="rect">
            <a:avLst/>
          </a:prstGeom>
          <a:noFill/>
        </p:spPr>
        <p:txBody>
          <a:bodyPr wrap="square">
            <a:spAutoFit/>
          </a:bodyPr>
          <a:lstStyle/>
          <a:p>
            <a:pPr algn="r"/>
            <a:r>
              <a:rPr sz="28000" b="1" i="0">
                <a:solidFill>
                  <a:srgbClr val="161B22"/>
                </a:solidFill>
                <a:latin typeface="Arial"/>
              </a:rPr>
              <a:t>H</a:t>
            </a:r>
          </a:p>
        </p:txBody>
      </p:sp>
      <p:sp>
        <p:nvSpPr>
          <p:cNvPr id="3" name="Rectangle 2"/>
          <p:cNvSpPr/>
          <p:nvPr/>
        </p:nvSpPr>
        <p:spPr>
          <a:xfrm>
            <a:off x="0" y="0"/>
            <a:ext cx="73152" cy="68580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9144000" cy="1280160"/>
          </a:xfrm>
          <a:prstGeom prst="rect">
            <a:avLst/>
          </a:prstGeom>
          <a:noFill/>
        </p:spPr>
        <p:txBody>
          <a:bodyPr wrap="square">
            <a:spAutoFit/>
          </a:bodyPr>
          <a:lstStyle/>
          <a:p>
            <a:pPr algn="l"/>
            <a:r>
              <a:rPr sz="6000" b="1" i="0">
                <a:solidFill>
                  <a:srgbClr val="FFFFFF"/>
                </a:solidFill>
                <a:latin typeface="Arial"/>
              </a:rPr>
              <a:t>Holdfast Protocol</a:t>
            </a:r>
          </a:p>
        </p:txBody>
      </p:sp>
      <p:sp>
        <p:nvSpPr>
          <p:cNvPr id="5" name="TextBox 4"/>
          <p:cNvSpPr txBox="1"/>
          <p:nvPr/>
        </p:nvSpPr>
        <p:spPr>
          <a:xfrm>
            <a:off x="640080" y="2926080"/>
            <a:ext cx="9144000" cy="640080"/>
          </a:xfrm>
          <a:prstGeom prst="rect">
            <a:avLst/>
          </a:prstGeom>
          <a:noFill/>
        </p:spPr>
        <p:txBody>
          <a:bodyPr wrap="square">
            <a:spAutoFit/>
          </a:bodyPr>
          <a:lstStyle/>
          <a:p>
            <a:pPr algn="l"/>
            <a:r>
              <a:rPr sz="2600" b="0" i="0">
                <a:solidFill>
                  <a:srgbClr val="14F195"/>
                </a:solidFill>
                <a:latin typeface="Arial"/>
              </a:rPr>
              <a:t>Trust infrastructure for the AI agent economy.</a:t>
            </a:r>
          </a:p>
        </p:txBody>
      </p:sp>
      <p:sp>
        <p:nvSpPr>
          <p:cNvPr id="6" name="Rectangle 5"/>
          <p:cNvSpPr/>
          <p:nvPr/>
        </p:nvSpPr>
        <p:spPr>
          <a:xfrm>
            <a:off x="457200" y="3749039"/>
            <a:ext cx="11277295" cy="25400"/>
          </a:xfrm>
          <a:prstGeom prst="rect">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886200"/>
            <a:ext cx="9144000" cy="457200"/>
          </a:xfrm>
          <a:prstGeom prst="rect">
            <a:avLst/>
          </a:prstGeom>
          <a:noFill/>
        </p:spPr>
        <p:txBody>
          <a:bodyPr wrap="square">
            <a:spAutoFit/>
          </a:bodyPr>
          <a:lstStyle/>
          <a:p>
            <a:pPr algn="l"/>
            <a:r>
              <a:rPr sz="1600" b="0" i="0">
                <a:solidFill>
                  <a:srgbClr val="8B949E"/>
                </a:solidFill>
                <a:latin typeface="Arial"/>
              </a:rPr>
              <a:t>AI Agent Conference NYC  ·  May 4–5, 2026  ·  Agentic Engineering Track</a:t>
            </a:r>
          </a:p>
        </p:txBody>
      </p:sp>
      <p:sp>
        <p:nvSpPr>
          <p:cNvPr id="8" name="TextBox 7"/>
          <p:cNvSpPr txBox="1"/>
          <p:nvPr/>
        </p:nvSpPr>
        <p:spPr>
          <a:xfrm>
            <a:off x="640080" y="4343400"/>
            <a:ext cx="7315200" cy="365760"/>
          </a:xfrm>
          <a:prstGeom prst="rect">
            <a:avLst/>
          </a:prstGeom>
          <a:noFill/>
        </p:spPr>
        <p:txBody>
          <a:bodyPr wrap="square">
            <a:spAutoFit/>
          </a:bodyPr>
          <a:lstStyle/>
          <a:p>
            <a:pPr algn="l"/>
            <a:r>
              <a:rPr sz="1400" b="0" i="0">
                <a:solidFill>
                  <a:srgbClr val="8B949E"/>
                </a:solidFill>
                <a:latin typeface="Arial"/>
              </a:rPr>
              <a:t>Casemate Labs  ·  holdfastprotocol.com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2  The Problem</a:t>
            </a:r>
          </a:p>
        </p:txBody>
      </p:sp>
      <p:sp>
        <p:nvSpPr>
          <p:cNvPr id="5" name="TextBox 4"/>
          <p:cNvSpPr txBox="1"/>
          <p:nvPr/>
        </p:nvSpPr>
        <p:spPr>
          <a:xfrm>
            <a:off x="548640" y="457200"/>
            <a:ext cx="10972800" cy="685800"/>
          </a:xfrm>
          <a:prstGeom prst="rect">
            <a:avLst/>
          </a:prstGeom>
          <a:noFill/>
        </p:spPr>
        <p:txBody>
          <a:bodyPr wrap="square">
            <a:spAutoFit/>
          </a:bodyPr>
          <a:lstStyle/>
          <a:p>
            <a:pPr algn="l"/>
            <a:r>
              <a:rPr sz="4000" b="1" i="0">
                <a:solidFill>
                  <a:srgbClr val="FFFFFF"/>
                </a:solidFill>
                <a:latin typeface="Arial"/>
              </a:rPr>
              <a:t>Agents are moving real money.</a:t>
            </a:r>
          </a:p>
        </p:txBody>
      </p:sp>
      <p:sp>
        <p:nvSpPr>
          <p:cNvPr id="6" name="TextBox 5"/>
          <p:cNvSpPr txBox="1"/>
          <p:nvPr/>
        </p:nvSpPr>
        <p:spPr>
          <a:xfrm>
            <a:off x="548640" y="1097280"/>
            <a:ext cx="10972800" cy="548640"/>
          </a:xfrm>
          <a:prstGeom prst="rect">
            <a:avLst/>
          </a:prstGeom>
          <a:noFill/>
        </p:spPr>
        <p:txBody>
          <a:bodyPr wrap="square">
            <a:spAutoFit/>
          </a:bodyPr>
          <a:lstStyle/>
          <a:p>
            <a:pPr algn="l"/>
            <a:r>
              <a:rPr sz="2800" b="0" i="0">
                <a:solidFill>
                  <a:srgbClr val="FF6B6B"/>
                </a:solidFill>
                <a:latin typeface="Arial"/>
              </a:rPr>
              <a:t>There is no standard for what happens when they go wrong.</a:t>
            </a:r>
          </a:p>
        </p:txBody>
      </p:sp>
      <p:sp>
        <p:nvSpPr>
          <p:cNvPr id="7" name="Rectangle 6"/>
          <p:cNvSpPr/>
          <p:nvPr/>
        </p:nvSpPr>
        <p:spPr>
          <a:xfrm>
            <a:off x="457200" y="1783080"/>
            <a:ext cx="11277295" cy="254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10058400" cy="411480"/>
          </a:xfrm>
          <a:prstGeom prst="rect">
            <a:avLst/>
          </a:prstGeom>
          <a:noFill/>
        </p:spPr>
        <p:txBody>
          <a:bodyPr wrap="square">
            <a:spAutoFit/>
          </a:bodyPr>
          <a:lstStyle/>
          <a:p>
            <a:pPr algn="l"/>
            <a:r>
              <a:rPr sz="2000" b="0" i="0">
                <a:solidFill>
                  <a:srgbClr val="FFFFFF"/>
                </a:solidFill>
                <a:latin typeface="Arial"/>
              </a:rPr>
              <a:t>  ▸  AI agents executing transactions autonomously</a:t>
            </a:r>
          </a:p>
        </p:txBody>
      </p:sp>
      <p:sp>
        <p:nvSpPr>
          <p:cNvPr id="9" name="TextBox 8"/>
          <p:cNvSpPr txBox="1"/>
          <p:nvPr/>
        </p:nvSpPr>
        <p:spPr>
          <a:xfrm>
            <a:off x="731520" y="2468880"/>
            <a:ext cx="10058400" cy="411480"/>
          </a:xfrm>
          <a:prstGeom prst="rect">
            <a:avLst/>
          </a:prstGeom>
          <a:noFill/>
        </p:spPr>
        <p:txBody>
          <a:bodyPr wrap="square">
            <a:spAutoFit/>
          </a:bodyPr>
          <a:lstStyle/>
          <a:p>
            <a:pPr algn="l"/>
            <a:r>
              <a:rPr sz="2000" b="0" i="0">
                <a:solidFill>
                  <a:srgbClr val="FFFFFF"/>
                </a:solidFill>
                <a:latin typeface="Arial"/>
              </a:rPr>
              <a:t>  ▸  Signing transactions with software keys in .env files</a:t>
            </a:r>
          </a:p>
        </p:txBody>
      </p:sp>
      <p:sp>
        <p:nvSpPr>
          <p:cNvPr id="10" name="TextBox 9"/>
          <p:cNvSpPr txBox="1"/>
          <p:nvPr/>
        </p:nvSpPr>
        <p:spPr>
          <a:xfrm>
            <a:off x="731520" y="2971800"/>
            <a:ext cx="10058400" cy="411480"/>
          </a:xfrm>
          <a:prstGeom prst="rect">
            <a:avLst/>
          </a:prstGeom>
          <a:noFill/>
        </p:spPr>
        <p:txBody>
          <a:bodyPr wrap="square">
            <a:spAutoFit/>
          </a:bodyPr>
          <a:lstStyle/>
          <a:p>
            <a:pPr algn="l"/>
            <a:r>
              <a:rPr sz="2000" b="0" i="0">
                <a:solidFill>
                  <a:srgbClr val="FFFFFF"/>
                </a:solidFill>
                <a:latin typeface="Arial"/>
              </a:rPr>
              <a:t>  ▸  No verifiable identity — a key proves nothing</a:t>
            </a:r>
          </a:p>
        </p:txBody>
      </p:sp>
      <p:sp>
        <p:nvSpPr>
          <p:cNvPr id="11" name="TextBox 10"/>
          <p:cNvSpPr txBox="1"/>
          <p:nvPr/>
        </p:nvSpPr>
        <p:spPr>
          <a:xfrm>
            <a:off x="731520" y="3474720"/>
            <a:ext cx="10058400" cy="411480"/>
          </a:xfrm>
          <a:prstGeom prst="rect">
            <a:avLst/>
          </a:prstGeom>
          <a:noFill/>
        </p:spPr>
        <p:txBody>
          <a:bodyPr wrap="square">
            <a:spAutoFit/>
          </a:bodyPr>
          <a:lstStyle/>
          <a:p>
            <a:pPr algn="l"/>
            <a:r>
              <a:rPr sz="2000" b="0" i="0">
                <a:solidFill>
                  <a:srgbClr val="FFFFFF"/>
                </a:solidFill>
                <a:latin typeface="Arial"/>
              </a:rPr>
              <a:t>  ▸  No on-chain track record of past behavior</a:t>
            </a:r>
          </a:p>
        </p:txBody>
      </p:sp>
      <p:sp>
        <p:nvSpPr>
          <p:cNvPr id="12" name="TextBox 11"/>
          <p:cNvSpPr txBox="1"/>
          <p:nvPr/>
        </p:nvSpPr>
        <p:spPr>
          <a:xfrm>
            <a:off x="731520" y="3977640"/>
            <a:ext cx="10058400" cy="411480"/>
          </a:xfrm>
          <a:prstGeom prst="rect">
            <a:avLst/>
          </a:prstGeom>
          <a:noFill/>
        </p:spPr>
        <p:txBody>
          <a:bodyPr wrap="square">
            <a:spAutoFit/>
          </a:bodyPr>
          <a:lstStyle/>
          <a:p>
            <a:pPr algn="l"/>
            <a:r>
              <a:rPr sz="2000" b="1" i="0">
                <a:solidFill>
                  <a:srgbClr val="FF6B6B"/>
                </a:solidFill>
                <a:latin typeface="Arial"/>
              </a:rPr>
              <a:t>  ▸  No enforceable consequences for failure or fraud</a:t>
            </a:r>
          </a:p>
        </p:txBody>
      </p:sp>
      <p:sp>
        <p:nvSpPr>
          <p:cNvPr id="13" name="Rectangle 12"/>
          <p:cNvSpPr/>
          <p:nvPr/>
        </p:nvSpPr>
        <p:spPr>
          <a:xfrm>
            <a:off x="8046720" y="2011680"/>
            <a:ext cx="3749039" cy="2560320"/>
          </a:xfrm>
          <a:prstGeom prst="rect">
            <a:avLst/>
          </a:prstGeom>
          <a:solidFill>
            <a:srgbClr val="161B22"/>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194560"/>
            <a:ext cx="3566160" cy="914400"/>
          </a:xfrm>
          <a:prstGeom prst="rect">
            <a:avLst/>
          </a:prstGeom>
          <a:noFill/>
        </p:spPr>
        <p:txBody>
          <a:bodyPr wrap="square">
            <a:spAutoFit/>
          </a:bodyPr>
          <a:lstStyle/>
          <a:p>
            <a:pPr algn="ctr"/>
            <a:r>
              <a:rPr sz="5200" b="1" i="0">
                <a:solidFill>
                  <a:srgbClr val="FF6B6B"/>
                </a:solidFill>
                <a:latin typeface="Arial"/>
              </a:rPr>
              <a:t>21,000+</a:t>
            </a:r>
          </a:p>
        </p:txBody>
      </p:sp>
      <p:sp>
        <p:nvSpPr>
          <p:cNvPr id="15" name="TextBox 14"/>
          <p:cNvSpPr txBox="1"/>
          <p:nvPr/>
        </p:nvSpPr>
        <p:spPr>
          <a:xfrm>
            <a:off x="8138160" y="3017520"/>
            <a:ext cx="3566160" cy="1371600"/>
          </a:xfrm>
          <a:prstGeom prst="rect">
            <a:avLst/>
          </a:prstGeom>
          <a:noFill/>
        </p:spPr>
        <p:txBody>
          <a:bodyPr wrap="square">
            <a:spAutoFit/>
          </a:bodyPr>
          <a:lstStyle/>
          <a:p>
            <a:pPr algn="ctr"/>
            <a:r>
              <a:rPr sz="1400" b="0" i="0">
                <a:solidFill>
                  <a:srgbClr val="8B949E"/>
                </a:solidFill>
                <a:latin typeface="Arial"/>
              </a:rPr>
              <a:t>AI agents deployed in the Colosseum
hackathon alone.
No accountability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3  The Trust Gap</a:t>
            </a:r>
          </a:p>
        </p:txBody>
      </p:sp>
      <p:sp>
        <p:nvSpPr>
          <p:cNvPr id="5" name="TextBox 4"/>
          <p:cNvSpPr txBox="1"/>
          <p:nvPr/>
        </p:nvSpPr>
        <p:spPr>
          <a:xfrm>
            <a:off x="548640" y="365760"/>
            <a:ext cx="10972800" cy="594360"/>
          </a:xfrm>
          <a:prstGeom prst="rect">
            <a:avLst/>
          </a:prstGeom>
          <a:noFill/>
        </p:spPr>
        <p:txBody>
          <a:bodyPr wrap="square">
            <a:spAutoFit/>
          </a:bodyPr>
          <a:lstStyle/>
          <a:p>
            <a:pPr algn="l"/>
            <a:r>
              <a:rPr sz="3600" b="1" i="0">
                <a:solidFill>
                  <a:srgbClr val="FFFFFF"/>
                </a:solidFill>
                <a:latin typeface="Arial"/>
              </a:rPr>
              <a:t>The trust gap has three parts:</a:t>
            </a:r>
          </a:p>
        </p:txBody>
      </p:sp>
      <p:sp>
        <p:nvSpPr>
          <p:cNvPr id="6" name="Rectangle 5"/>
          <p:cNvSpPr/>
          <p:nvPr/>
        </p:nvSpPr>
        <p:spPr>
          <a:xfrm>
            <a:off x="457200" y="100584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3474720" cy="411480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3474720" cy="64008"/>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3200400" cy="457200"/>
          </a:xfrm>
          <a:prstGeom prst="rect">
            <a:avLst/>
          </a:prstGeom>
          <a:noFill/>
        </p:spPr>
        <p:txBody>
          <a:bodyPr wrap="square">
            <a:spAutoFit/>
          </a:bodyPr>
          <a:lstStyle/>
          <a:p>
            <a:pPr algn="ctr"/>
            <a:r>
              <a:rPr sz="1800" b="1" i="0">
                <a:solidFill>
                  <a:srgbClr val="14F195"/>
                </a:solidFill>
                <a:latin typeface="Arial"/>
              </a:rPr>
              <a:t>IDENTITY</a:t>
            </a:r>
          </a:p>
        </p:txBody>
      </p:sp>
      <p:sp>
        <p:nvSpPr>
          <p:cNvPr id="10" name="TextBox 9"/>
          <p:cNvSpPr txBox="1"/>
          <p:nvPr/>
        </p:nvSpPr>
        <p:spPr>
          <a:xfrm>
            <a:off x="594360" y="1965960"/>
            <a:ext cx="3200400" cy="1097280"/>
          </a:xfrm>
          <a:prstGeom prst="rect">
            <a:avLst/>
          </a:prstGeom>
          <a:noFill/>
        </p:spPr>
        <p:txBody>
          <a:bodyPr wrap="square">
            <a:spAutoFit/>
          </a:bodyPr>
          <a:lstStyle/>
          <a:p>
            <a:pPr algn="ctr"/>
            <a:r>
              <a:rPr sz="2200" b="0" i="0">
                <a:solidFill>
                  <a:srgbClr val="FFFFFF"/>
                </a:solidFill>
                <a:latin typeface="Arial"/>
              </a:rPr>
              <a:t>Who is this
agent, really?</a:t>
            </a:r>
          </a:p>
        </p:txBody>
      </p:sp>
      <p:sp>
        <p:nvSpPr>
          <p:cNvPr id="11" name="TextBox 10"/>
          <p:cNvSpPr txBox="1"/>
          <p:nvPr/>
        </p:nvSpPr>
        <p:spPr>
          <a:xfrm>
            <a:off x="594360" y="3749040"/>
            <a:ext cx="3200400" cy="1097280"/>
          </a:xfrm>
          <a:prstGeom prst="rect">
            <a:avLst/>
          </a:prstGeom>
          <a:noFill/>
        </p:spPr>
        <p:txBody>
          <a:bodyPr wrap="square">
            <a:spAutoFit/>
          </a:bodyPr>
          <a:lstStyle/>
          <a:p>
            <a:pPr algn="ctr"/>
            <a:r>
              <a:rPr sz="1700" b="0" i="0">
                <a:solidFill>
                  <a:srgbClr val="8B949E"/>
                </a:solidFill>
                <a:latin typeface="Arial"/>
              </a:rPr>
              <a:t>Software keys
can be copied.</a:t>
            </a:r>
          </a:p>
        </p:txBody>
      </p:sp>
      <p:sp>
        <p:nvSpPr>
          <p:cNvPr id="12" name="Rectangle 11"/>
          <p:cNvSpPr/>
          <p:nvPr/>
        </p:nvSpPr>
        <p:spPr>
          <a:xfrm>
            <a:off x="4389120" y="1188720"/>
            <a:ext cx="3474720" cy="4114800"/>
          </a:xfrm>
          <a:prstGeom prst="rect">
            <a:avLst/>
          </a:prstGeom>
          <a:solidFill>
            <a:srgbClr val="161B22"/>
          </a:solidFill>
          <a:ln w="1905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188720"/>
            <a:ext cx="3474720" cy="64008"/>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371600"/>
            <a:ext cx="3200400" cy="457200"/>
          </a:xfrm>
          <a:prstGeom prst="rect">
            <a:avLst/>
          </a:prstGeom>
          <a:noFill/>
        </p:spPr>
        <p:txBody>
          <a:bodyPr wrap="square">
            <a:spAutoFit/>
          </a:bodyPr>
          <a:lstStyle/>
          <a:p>
            <a:pPr algn="ctr"/>
            <a:r>
              <a:rPr sz="1800" b="1" i="0">
                <a:solidFill>
                  <a:srgbClr val="9945FF"/>
                </a:solidFill>
                <a:latin typeface="Arial"/>
              </a:rPr>
              <a:t>REPUTATION</a:t>
            </a:r>
          </a:p>
        </p:txBody>
      </p:sp>
      <p:sp>
        <p:nvSpPr>
          <p:cNvPr id="15" name="TextBox 14"/>
          <p:cNvSpPr txBox="1"/>
          <p:nvPr/>
        </p:nvSpPr>
        <p:spPr>
          <a:xfrm>
            <a:off x="4526280" y="1965960"/>
            <a:ext cx="3200400" cy="1097280"/>
          </a:xfrm>
          <a:prstGeom prst="rect">
            <a:avLst/>
          </a:prstGeom>
          <a:noFill/>
        </p:spPr>
        <p:txBody>
          <a:bodyPr wrap="square">
            <a:spAutoFit/>
          </a:bodyPr>
          <a:lstStyle/>
          <a:p>
            <a:pPr algn="ctr"/>
            <a:r>
              <a:rPr sz="2200" b="0" i="0">
                <a:solidFill>
                  <a:srgbClr val="FFFFFF"/>
                </a:solidFill>
                <a:latin typeface="Arial"/>
              </a:rPr>
              <a:t>Has this agent
behaved before?</a:t>
            </a:r>
          </a:p>
        </p:txBody>
      </p:sp>
      <p:sp>
        <p:nvSpPr>
          <p:cNvPr id="16" name="TextBox 15"/>
          <p:cNvSpPr txBox="1"/>
          <p:nvPr/>
        </p:nvSpPr>
        <p:spPr>
          <a:xfrm>
            <a:off x="4526280" y="3749040"/>
            <a:ext cx="3200400" cy="1097280"/>
          </a:xfrm>
          <a:prstGeom prst="rect">
            <a:avLst/>
          </a:prstGeom>
          <a:noFill/>
        </p:spPr>
        <p:txBody>
          <a:bodyPr wrap="square">
            <a:spAutoFit/>
          </a:bodyPr>
          <a:lstStyle/>
          <a:p>
            <a:pPr algn="ctr"/>
            <a:r>
              <a:rPr sz="1700" b="0" i="0">
                <a:solidFill>
                  <a:srgbClr val="8B949E"/>
                </a:solidFill>
                <a:latin typeface="Arial"/>
              </a:rPr>
              <a:t>No on-chain
track record.</a:t>
            </a:r>
          </a:p>
        </p:txBody>
      </p:sp>
      <p:sp>
        <p:nvSpPr>
          <p:cNvPr id="17" name="Rectangle 16"/>
          <p:cNvSpPr/>
          <p:nvPr/>
        </p:nvSpPr>
        <p:spPr>
          <a:xfrm>
            <a:off x="8321040" y="1188720"/>
            <a:ext cx="3474720" cy="4114800"/>
          </a:xfrm>
          <a:prstGeom prst="rect">
            <a:avLst/>
          </a:prstGeom>
          <a:solidFill>
            <a:srgbClr val="161B22"/>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1188720"/>
            <a:ext cx="3474720" cy="6400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371600"/>
            <a:ext cx="3200400" cy="457200"/>
          </a:xfrm>
          <a:prstGeom prst="rect">
            <a:avLst/>
          </a:prstGeom>
          <a:noFill/>
        </p:spPr>
        <p:txBody>
          <a:bodyPr wrap="square">
            <a:spAutoFit/>
          </a:bodyPr>
          <a:lstStyle/>
          <a:p>
            <a:pPr algn="ctr"/>
            <a:r>
              <a:rPr sz="1800" b="1" i="0">
                <a:solidFill>
                  <a:srgbClr val="FF6B6B"/>
                </a:solidFill>
                <a:latin typeface="Arial"/>
              </a:rPr>
              <a:t>ENFORCEMENT</a:t>
            </a:r>
          </a:p>
        </p:txBody>
      </p:sp>
      <p:sp>
        <p:nvSpPr>
          <p:cNvPr id="20" name="TextBox 19"/>
          <p:cNvSpPr txBox="1"/>
          <p:nvPr/>
        </p:nvSpPr>
        <p:spPr>
          <a:xfrm>
            <a:off x="8458200" y="1965960"/>
            <a:ext cx="3200400" cy="1097280"/>
          </a:xfrm>
          <a:prstGeom prst="rect">
            <a:avLst/>
          </a:prstGeom>
          <a:noFill/>
        </p:spPr>
        <p:txBody>
          <a:bodyPr wrap="square">
            <a:spAutoFit/>
          </a:bodyPr>
          <a:lstStyle/>
          <a:p>
            <a:pPr algn="ctr"/>
            <a:r>
              <a:rPr sz="2200" b="0" i="0">
                <a:solidFill>
                  <a:srgbClr val="FFFFFF"/>
                </a:solidFill>
                <a:latin typeface="Arial"/>
              </a:rPr>
              <a:t>What happens
when it fails?</a:t>
            </a:r>
          </a:p>
        </p:txBody>
      </p:sp>
      <p:sp>
        <p:nvSpPr>
          <p:cNvPr id="21" name="TextBox 20"/>
          <p:cNvSpPr txBox="1"/>
          <p:nvPr/>
        </p:nvSpPr>
        <p:spPr>
          <a:xfrm>
            <a:off x="8458200" y="3749040"/>
            <a:ext cx="3200400" cy="1097280"/>
          </a:xfrm>
          <a:prstGeom prst="rect">
            <a:avLst/>
          </a:prstGeom>
          <a:noFill/>
        </p:spPr>
        <p:txBody>
          <a:bodyPr wrap="square">
            <a:spAutoFit/>
          </a:bodyPr>
          <a:lstStyle/>
          <a:p>
            <a:pPr algn="ctr"/>
            <a:r>
              <a:rPr sz="1700" b="0" i="0">
                <a:solidFill>
                  <a:srgbClr val="8B949E"/>
                </a:solidFill>
                <a:latin typeface="Arial"/>
              </a:rPr>
              <a:t>No programmable
settlement.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4  Holdfast Protocol</a:t>
            </a:r>
          </a:p>
        </p:txBody>
      </p:sp>
      <p:sp>
        <p:nvSpPr>
          <p:cNvPr id="5" name="TextBox 4"/>
          <p:cNvSpPr txBox="1"/>
          <p:nvPr/>
        </p:nvSpPr>
        <p:spPr>
          <a:xfrm>
            <a:off x="548640" y="365760"/>
            <a:ext cx="9144000" cy="685800"/>
          </a:xfrm>
          <a:prstGeom prst="rect">
            <a:avLst/>
          </a:prstGeom>
          <a:noFill/>
        </p:spPr>
        <p:txBody>
          <a:bodyPr wrap="square">
            <a:spAutoFit/>
          </a:bodyPr>
          <a:lstStyle/>
          <a:p>
            <a:pPr algn="l"/>
            <a:r>
              <a:rPr sz="4400" b="1" i="0">
                <a:solidFill>
                  <a:srgbClr val="FFFFFF"/>
                </a:solidFill>
                <a:latin typeface="Arial"/>
              </a:rPr>
              <a:t>Holdfast Protocol</a:t>
            </a:r>
          </a:p>
        </p:txBody>
      </p:sp>
      <p:sp>
        <p:nvSpPr>
          <p:cNvPr id="6" name="TextBox 5"/>
          <p:cNvSpPr txBox="1"/>
          <p:nvPr/>
        </p:nvSpPr>
        <p:spPr>
          <a:xfrm>
            <a:off x="548640" y="1005840"/>
            <a:ext cx="10972800" cy="457200"/>
          </a:xfrm>
          <a:prstGeom prst="rect">
            <a:avLst/>
          </a:prstGeom>
          <a:noFill/>
        </p:spPr>
        <p:txBody>
          <a:bodyPr wrap="square">
            <a:spAutoFit/>
          </a:bodyPr>
          <a:lstStyle/>
          <a:p>
            <a:pPr algn="l"/>
            <a:r>
              <a:rPr sz="2200" b="0" i="0">
                <a:solidFill>
                  <a:srgbClr val="14F195"/>
                </a:solidFill>
                <a:latin typeface="Arial"/>
              </a:rPr>
              <a:t>Three composable primitives for AI agent trust. Native on Solana.</a:t>
            </a:r>
          </a:p>
        </p:txBody>
      </p:sp>
      <p:sp>
        <p:nvSpPr>
          <p:cNvPr id="7" name="Rectangle 6"/>
          <p:cNvSpPr/>
          <p:nvPr/>
        </p:nvSpPr>
        <p:spPr>
          <a:xfrm>
            <a:off x="457200" y="155448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828800"/>
            <a:ext cx="3108960" cy="2560320"/>
          </a:xfrm>
          <a:prstGeom prst="rect">
            <a:avLst/>
          </a:prstGeom>
          <a:solidFill>
            <a:srgbClr val="161B22"/>
          </a:solidFill>
          <a:ln w="254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3108960" cy="64008"/>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03120"/>
            <a:ext cx="2926080" cy="594360"/>
          </a:xfrm>
          <a:prstGeom prst="rect">
            <a:avLst/>
          </a:prstGeom>
          <a:noFill/>
        </p:spPr>
        <p:txBody>
          <a:bodyPr wrap="square">
            <a:spAutoFit/>
          </a:bodyPr>
          <a:lstStyle/>
          <a:p>
            <a:pPr algn="ctr"/>
            <a:r>
              <a:rPr sz="3000" b="1" i="0">
                <a:solidFill>
                  <a:srgbClr val="14F195"/>
                </a:solidFill>
                <a:latin typeface="Arial"/>
              </a:rPr>
              <a:t>Identity</a:t>
            </a:r>
          </a:p>
        </p:txBody>
      </p:sp>
      <p:sp>
        <p:nvSpPr>
          <p:cNvPr id="11" name="TextBox 10"/>
          <p:cNvSpPr txBox="1"/>
          <p:nvPr/>
        </p:nvSpPr>
        <p:spPr>
          <a:xfrm>
            <a:off x="640080" y="2834640"/>
            <a:ext cx="2926080" cy="1280160"/>
          </a:xfrm>
          <a:prstGeom prst="rect">
            <a:avLst/>
          </a:prstGeom>
          <a:noFill/>
        </p:spPr>
        <p:txBody>
          <a:bodyPr wrap="square">
            <a:spAutoFit/>
          </a:bodyPr>
          <a:lstStyle/>
          <a:p>
            <a:pPr algn="ctr"/>
            <a:r>
              <a:rPr sz="1800" b="0" i="0">
                <a:solidFill>
                  <a:srgbClr val="FFFFFF"/>
                </a:solidFill>
                <a:latin typeface="Arial"/>
              </a:rPr>
              <a:t>Hardware-attested
agent identities</a:t>
            </a:r>
          </a:p>
        </p:txBody>
      </p:sp>
      <p:sp>
        <p:nvSpPr>
          <p:cNvPr id="12" name="TextBox 11"/>
          <p:cNvSpPr txBox="1"/>
          <p:nvPr/>
        </p:nvSpPr>
        <p:spPr>
          <a:xfrm>
            <a:off x="3749040" y="2743200"/>
            <a:ext cx="548640" cy="548640"/>
          </a:xfrm>
          <a:prstGeom prst="rect">
            <a:avLst/>
          </a:prstGeom>
          <a:noFill/>
        </p:spPr>
        <p:txBody>
          <a:bodyPr wrap="square">
            <a:spAutoFit/>
          </a:bodyPr>
          <a:lstStyle/>
          <a:p>
            <a:pPr algn="ctr"/>
            <a:r>
              <a:rPr sz="2800" b="0" i="0">
                <a:solidFill>
                  <a:srgbClr val="8B949E"/>
                </a:solidFill>
                <a:latin typeface="Arial"/>
              </a:rPr>
              <a:t>→</a:t>
            </a:r>
          </a:p>
        </p:txBody>
      </p:sp>
      <p:sp>
        <p:nvSpPr>
          <p:cNvPr id="13" name="Rectangle 12"/>
          <p:cNvSpPr/>
          <p:nvPr/>
        </p:nvSpPr>
        <p:spPr>
          <a:xfrm>
            <a:off x="4389120" y="1828800"/>
            <a:ext cx="3108960" cy="2560320"/>
          </a:xfrm>
          <a:prstGeom prst="rect">
            <a:avLst/>
          </a:prstGeom>
          <a:solidFill>
            <a:srgbClr val="161B22"/>
          </a:solidFill>
          <a:ln w="2540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28800"/>
            <a:ext cx="3108960" cy="64008"/>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103120"/>
            <a:ext cx="2926080" cy="594360"/>
          </a:xfrm>
          <a:prstGeom prst="rect">
            <a:avLst/>
          </a:prstGeom>
          <a:noFill/>
        </p:spPr>
        <p:txBody>
          <a:bodyPr wrap="square">
            <a:spAutoFit/>
          </a:bodyPr>
          <a:lstStyle/>
          <a:p>
            <a:pPr algn="ctr"/>
            <a:r>
              <a:rPr sz="3000" b="1" i="0">
                <a:solidFill>
                  <a:srgbClr val="9945FF"/>
                </a:solidFill>
                <a:latin typeface="Arial"/>
              </a:rPr>
              <a:t>Reputation</a:t>
            </a:r>
          </a:p>
        </p:txBody>
      </p:sp>
      <p:sp>
        <p:nvSpPr>
          <p:cNvPr id="16" name="TextBox 15"/>
          <p:cNvSpPr txBox="1"/>
          <p:nvPr/>
        </p:nvSpPr>
        <p:spPr>
          <a:xfrm>
            <a:off x="4480560" y="2834640"/>
            <a:ext cx="2926080" cy="1280160"/>
          </a:xfrm>
          <a:prstGeom prst="rect">
            <a:avLst/>
          </a:prstGeom>
          <a:noFill/>
        </p:spPr>
        <p:txBody>
          <a:bodyPr wrap="square">
            <a:spAutoFit/>
          </a:bodyPr>
          <a:lstStyle/>
          <a:p>
            <a:pPr algn="ctr"/>
            <a:r>
              <a:rPr sz="1800" b="0" i="0">
                <a:solidFill>
                  <a:srgbClr val="FFFFFF"/>
                </a:solidFill>
                <a:latin typeface="Arial"/>
              </a:rPr>
              <a:t>On-chain oracle
(CPI-readable)</a:t>
            </a:r>
          </a:p>
        </p:txBody>
      </p:sp>
      <p:sp>
        <p:nvSpPr>
          <p:cNvPr id="17" name="TextBox 16"/>
          <p:cNvSpPr txBox="1"/>
          <p:nvPr/>
        </p:nvSpPr>
        <p:spPr>
          <a:xfrm>
            <a:off x="7589520" y="2743200"/>
            <a:ext cx="548640" cy="548640"/>
          </a:xfrm>
          <a:prstGeom prst="rect">
            <a:avLst/>
          </a:prstGeom>
          <a:noFill/>
        </p:spPr>
        <p:txBody>
          <a:bodyPr wrap="square">
            <a:spAutoFit/>
          </a:bodyPr>
          <a:lstStyle/>
          <a:p>
            <a:pPr algn="ctr"/>
            <a:r>
              <a:rPr sz="2800" b="0" i="0">
                <a:solidFill>
                  <a:srgbClr val="8B949E"/>
                </a:solidFill>
                <a:latin typeface="Arial"/>
              </a:rPr>
              <a:t>→</a:t>
            </a:r>
          </a:p>
        </p:txBody>
      </p:sp>
      <p:sp>
        <p:nvSpPr>
          <p:cNvPr id="18" name="Rectangle 17"/>
          <p:cNvSpPr/>
          <p:nvPr/>
        </p:nvSpPr>
        <p:spPr>
          <a:xfrm>
            <a:off x="8229600" y="1828800"/>
            <a:ext cx="3108960" cy="2560320"/>
          </a:xfrm>
          <a:prstGeom prst="rect">
            <a:avLst/>
          </a:prstGeom>
          <a:solidFill>
            <a:srgbClr val="161B22"/>
          </a:solidFill>
          <a:ln w="2540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828800"/>
            <a:ext cx="310896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103120"/>
            <a:ext cx="2926080" cy="594360"/>
          </a:xfrm>
          <a:prstGeom prst="rect">
            <a:avLst/>
          </a:prstGeom>
          <a:noFill/>
        </p:spPr>
        <p:txBody>
          <a:bodyPr wrap="square">
            <a:spAutoFit/>
          </a:bodyPr>
          <a:lstStyle/>
          <a:p>
            <a:pPr algn="ctr"/>
            <a:r>
              <a:rPr sz="3000" b="1" i="0">
                <a:solidFill>
                  <a:srgbClr val="FFA500"/>
                </a:solidFill>
                <a:latin typeface="Arial"/>
              </a:rPr>
              <a:t>Escrow</a:t>
            </a:r>
          </a:p>
        </p:txBody>
      </p:sp>
      <p:sp>
        <p:nvSpPr>
          <p:cNvPr id="21" name="TextBox 20"/>
          <p:cNvSpPr txBox="1"/>
          <p:nvPr/>
        </p:nvSpPr>
        <p:spPr>
          <a:xfrm>
            <a:off x="8321040" y="2834640"/>
            <a:ext cx="2926080" cy="1280160"/>
          </a:xfrm>
          <a:prstGeom prst="rect">
            <a:avLst/>
          </a:prstGeom>
          <a:noFill/>
        </p:spPr>
        <p:txBody>
          <a:bodyPr wrap="square">
            <a:spAutoFit/>
          </a:bodyPr>
          <a:lstStyle/>
          <a:p>
            <a:pPr algn="ctr"/>
            <a:r>
              <a:rPr sz="1800" b="0" i="0">
                <a:solidFill>
                  <a:srgbClr val="FFFFFF"/>
                </a:solidFill>
                <a:latin typeface="Arial"/>
              </a:rPr>
              <a:t>Programmable
settlement</a:t>
            </a:r>
          </a:p>
        </p:txBody>
      </p:sp>
      <p:sp>
        <p:nvSpPr>
          <p:cNvPr id="22" name="Rectangle 21"/>
          <p:cNvSpPr/>
          <p:nvPr/>
        </p:nvSpPr>
        <p:spPr>
          <a:xfrm>
            <a:off x="4114800" y="4663440"/>
            <a:ext cx="3931920" cy="50292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0" y="4709160"/>
            <a:ext cx="3931920" cy="411480"/>
          </a:xfrm>
          <a:prstGeom prst="rect">
            <a:avLst/>
          </a:prstGeom>
          <a:noFill/>
        </p:spPr>
        <p:txBody>
          <a:bodyPr wrap="square">
            <a:spAutoFit/>
          </a:bodyPr>
          <a:lstStyle/>
          <a:p>
            <a:pPr algn="ctr"/>
            <a:r>
              <a:rPr sz="1300" b="0" i="0">
                <a:solidFill>
                  <a:srgbClr val="14F195"/>
                </a:solidFill>
                <a:latin typeface="Arial"/>
              </a:rPr>
              <a:t>Devnet live  ·  npm install @holdfastprotocol/sdk@devnet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5  Identity</a:t>
            </a:r>
          </a:p>
        </p:txBody>
      </p:sp>
      <p:sp>
        <p:nvSpPr>
          <p:cNvPr id="5" name="Rectangle 4"/>
          <p:cNvSpPr/>
          <p:nvPr/>
        </p:nvSpPr>
        <p:spPr>
          <a:xfrm>
            <a:off x="0" y="0"/>
            <a:ext cx="73152" cy="68580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74320"/>
            <a:ext cx="5486400" cy="411480"/>
          </a:xfrm>
          <a:prstGeom prst="rect">
            <a:avLst/>
          </a:prstGeom>
          <a:noFill/>
        </p:spPr>
        <p:txBody>
          <a:bodyPr wrap="square">
            <a:spAutoFit/>
          </a:bodyPr>
          <a:lstStyle/>
          <a:p>
            <a:pPr algn="l"/>
            <a:r>
              <a:rPr sz="1600" b="1" i="0">
                <a:solidFill>
                  <a:srgbClr val="14F195"/>
                </a:solidFill>
                <a:latin typeface="Arial"/>
              </a:rPr>
              <a:t>Primitive 1</a:t>
            </a:r>
          </a:p>
        </p:txBody>
      </p:sp>
      <p:sp>
        <p:nvSpPr>
          <p:cNvPr id="7" name="TextBox 6"/>
          <p:cNvSpPr txBox="1"/>
          <p:nvPr/>
        </p:nvSpPr>
        <p:spPr>
          <a:xfrm>
            <a:off x="457200" y="640080"/>
            <a:ext cx="7315200" cy="685800"/>
          </a:xfrm>
          <a:prstGeom prst="rect">
            <a:avLst/>
          </a:prstGeom>
          <a:noFill/>
        </p:spPr>
        <p:txBody>
          <a:bodyPr wrap="square">
            <a:spAutoFit/>
          </a:bodyPr>
          <a:lstStyle/>
          <a:p>
            <a:pPr algn="l"/>
            <a:r>
              <a:rPr sz="4400" b="1" i="0">
                <a:solidFill>
                  <a:srgbClr val="FFFFFF"/>
                </a:solidFill>
                <a:latin typeface="Arial"/>
              </a:rPr>
              <a:t>Identity</a:t>
            </a:r>
          </a:p>
        </p:txBody>
      </p:sp>
      <p:sp>
        <p:nvSpPr>
          <p:cNvPr id="8" name="TextBox 7"/>
          <p:cNvSpPr txBox="1"/>
          <p:nvPr/>
        </p:nvSpPr>
        <p:spPr>
          <a:xfrm>
            <a:off x="457200" y="1280160"/>
            <a:ext cx="9144000" cy="457200"/>
          </a:xfrm>
          <a:prstGeom prst="rect">
            <a:avLst/>
          </a:prstGeom>
          <a:noFill/>
        </p:spPr>
        <p:txBody>
          <a:bodyPr wrap="square">
            <a:spAutoFit/>
          </a:bodyPr>
          <a:lstStyle/>
          <a:p>
            <a:pPr algn="l"/>
            <a:r>
              <a:rPr sz="2000" b="0" i="0">
                <a:solidFill>
                  <a:srgbClr val="14F195"/>
                </a:solidFill>
                <a:latin typeface="Arial"/>
              </a:rPr>
              <a:t>Hardware-attested agent identities on Solana.</a:t>
            </a:r>
          </a:p>
        </p:txBody>
      </p:sp>
      <p:sp>
        <p:nvSpPr>
          <p:cNvPr id="9" name="Rectangle 8"/>
          <p:cNvSpPr/>
          <p:nvPr/>
        </p:nvSpPr>
        <p:spPr>
          <a:xfrm>
            <a:off x="457200" y="182880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21408"/>
            <a:ext cx="320040" cy="320040"/>
          </a:xfrm>
          <a:prstGeom prst="rect">
            <a:avLst/>
          </a:prstGeom>
          <a:solidFill>
            <a:srgbClr val="161B22"/>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103120"/>
            <a:ext cx="292608" cy="347472"/>
          </a:xfrm>
          <a:prstGeom prst="rect">
            <a:avLst/>
          </a:prstGeom>
          <a:noFill/>
        </p:spPr>
        <p:txBody>
          <a:bodyPr wrap="square">
            <a:spAutoFit/>
          </a:bodyPr>
          <a:lstStyle/>
          <a:p>
            <a:pPr algn="ctr"/>
            <a:r>
              <a:rPr sz="1300" b="1" i="0">
                <a:solidFill>
                  <a:srgbClr val="14F195"/>
                </a:solidFill>
                <a:latin typeface="Arial"/>
              </a:rPr>
              <a:t>1</a:t>
            </a:r>
          </a:p>
        </p:txBody>
      </p:sp>
      <p:sp>
        <p:nvSpPr>
          <p:cNvPr id="12" name="TextBox 11"/>
          <p:cNvSpPr txBox="1"/>
          <p:nvPr/>
        </p:nvSpPr>
        <p:spPr>
          <a:xfrm>
            <a:off x="960120" y="2011680"/>
            <a:ext cx="10515600" cy="548640"/>
          </a:xfrm>
          <a:prstGeom prst="rect">
            <a:avLst/>
          </a:prstGeom>
          <a:noFill/>
        </p:spPr>
        <p:txBody>
          <a:bodyPr wrap="square">
            <a:spAutoFit/>
          </a:bodyPr>
          <a:lstStyle/>
          <a:p>
            <a:pPr algn="l"/>
            <a:r>
              <a:rPr sz="1800" b="0" i="0">
                <a:solidFill>
                  <a:srgbClr val="FFFFFF"/>
                </a:solidFill>
                <a:latin typeface="Arial"/>
              </a:rPr>
              <a:t>Agent generates secp256r1 (P-256) keypair</a:t>
            </a:r>
          </a:p>
        </p:txBody>
      </p:sp>
      <p:sp>
        <p:nvSpPr>
          <p:cNvPr id="13" name="TextBox 12"/>
          <p:cNvSpPr txBox="1"/>
          <p:nvPr/>
        </p:nvSpPr>
        <p:spPr>
          <a:xfrm>
            <a:off x="530352" y="2468880"/>
            <a:ext cx="228600" cy="320040"/>
          </a:xfrm>
          <a:prstGeom prst="rect">
            <a:avLst/>
          </a:prstGeom>
          <a:noFill/>
        </p:spPr>
        <p:txBody>
          <a:bodyPr wrap="square">
            <a:spAutoFit/>
          </a:bodyPr>
          <a:lstStyle/>
          <a:p>
            <a:pPr algn="ctr"/>
            <a:r>
              <a:rPr sz="1400" b="0" i="0">
                <a:solidFill>
                  <a:srgbClr val="8B949E"/>
                </a:solidFill>
                <a:latin typeface="Arial"/>
              </a:rPr>
              <a:t>↓</a:t>
            </a:r>
          </a:p>
        </p:txBody>
      </p:sp>
      <p:sp>
        <p:nvSpPr>
          <p:cNvPr id="14" name="Rectangle 13"/>
          <p:cNvSpPr/>
          <p:nvPr/>
        </p:nvSpPr>
        <p:spPr>
          <a:xfrm>
            <a:off x="457200" y="2898648"/>
            <a:ext cx="320040" cy="320040"/>
          </a:xfrm>
          <a:prstGeom prst="rect">
            <a:avLst/>
          </a:prstGeom>
          <a:solidFill>
            <a:srgbClr val="161B22"/>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880360"/>
            <a:ext cx="292608" cy="347472"/>
          </a:xfrm>
          <a:prstGeom prst="rect">
            <a:avLst/>
          </a:prstGeom>
          <a:noFill/>
        </p:spPr>
        <p:txBody>
          <a:bodyPr wrap="square">
            <a:spAutoFit/>
          </a:bodyPr>
          <a:lstStyle/>
          <a:p>
            <a:pPr algn="ctr"/>
            <a:r>
              <a:rPr sz="1300" b="1" i="0">
                <a:solidFill>
                  <a:srgbClr val="14F195"/>
                </a:solidFill>
                <a:latin typeface="Arial"/>
              </a:rPr>
              <a:t>2</a:t>
            </a:r>
          </a:p>
        </p:txBody>
      </p:sp>
      <p:sp>
        <p:nvSpPr>
          <p:cNvPr id="16" name="TextBox 15"/>
          <p:cNvSpPr txBox="1"/>
          <p:nvPr/>
        </p:nvSpPr>
        <p:spPr>
          <a:xfrm>
            <a:off x="960120" y="2788920"/>
            <a:ext cx="10515600" cy="548640"/>
          </a:xfrm>
          <a:prstGeom prst="rect">
            <a:avLst/>
          </a:prstGeom>
          <a:noFill/>
        </p:spPr>
        <p:txBody>
          <a:bodyPr wrap="square">
            <a:spAutoFit/>
          </a:bodyPr>
          <a:lstStyle/>
          <a:p>
            <a:pPr algn="l"/>
            <a:r>
              <a:rPr sz="1800" b="0" i="0">
                <a:solidFill>
                  <a:srgbClr val="8B949E"/>
                </a:solidFill>
                <a:latin typeface="Arial"/>
              </a:rPr>
              <a:t>Same primitive: hardware security keys, Apple Secure Enclave, WebAuthn</a:t>
            </a:r>
          </a:p>
        </p:txBody>
      </p:sp>
      <p:sp>
        <p:nvSpPr>
          <p:cNvPr id="17" name="TextBox 16"/>
          <p:cNvSpPr txBox="1"/>
          <p:nvPr/>
        </p:nvSpPr>
        <p:spPr>
          <a:xfrm>
            <a:off x="530352" y="3246120"/>
            <a:ext cx="228600" cy="320040"/>
          </a:xfrm>
          <a:prstGeom prst="rect">
            <a:avLst/>
          </a:prstGeom>
          <a:noFill/>
        </p:spPr>
        <p:txBody>
          <a:bodyPr wrap="square">
            <a:spAutoFit/>
          </a:bodyPr>
          <a:lstStyle/>
          <a:p>
            <a:pPr algn="ctr"/>
            <a:r>
              <a:rPr sz="1400" b="0" i="0">
                <a:solidFill>
                  <a:srgbClr val="8B949E"/>
                </a:solidFill>
                <a:latin typeface="Arial"/>
              </a:rPr>
              <a:t>↓</a:t>
            </a:r>
          </a:p>
        </p:txBody>
      </p:sp>
      <p:sp>
        <p:nvSpPr>
          <p:cNvPr id="18" name="Rectangle 17"/>
          <p:cNvSpPr/>
          <p:nvPr/>
        </p:nvSpPr>
        <p:spPr>
          <a:xfrm>
            <a:off x="457200" y="3675888"/>
            <a:ext cx="320040" cy="320040"/>
          </a:xfrm>
          <a:prstGeom prst="rect">
            <a:avLst/>
          </a:prstGeom>
          <a:solidFill>
            <a:srgbClr val="161B22"/>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3657600"/>
            <a:ext cx="292608" cy="347472"/>
          </a:xfrm>
          <a:prstGeom prst="rect">
            <a:avLst/>
          </a:prstGeom>
          <a:noFill/>
        </p:spPr>
        <p:txBody>
          <a:bodyPr wrap="square">
            <a:spAutoFit/>
          </a:bodyPr>
          <a:lstStyle/>
          <a:p>
            <a:pPr algn="ctr"/>
            <a:r>
              <a:rPr sz="1300" b="1" i="0">
                <a:solidFill>
                  <a:srgbClr val="14F195"/>
                </a:solidFill>
                <a:latin typeface="Arial"/>
              </a:rPr>
              <a:t>3</a:t>
            </a:r>
          </a:p>
        </p:txBody>
      </p:sp>
      <p:sp>
        <p:nvSpPr>
          <p:cNvPr id="20" name="TextBox 19"/>
          <p:cNvSpPr txBox="1"/>
          <p:nvPr/>
        </p:nvSpPr>
        <p:spPr>
          <a:xfrm>
            <a:off x="960120" y="3566160"/>
            <a:ext cx="10515600" cy="548640"/>
          </a:xfrm>
          <a:prstGeom prst="rect">
            <a:avLst/>
          </a:prstGeom>
          <a:noFill/>
        </p:spPr>
        <p:txBody>
          <a:bodyPr wrap="square">
            <a:spAutoFit/>
          </a:bodyPr>
          <a:lstStyle/>
          <a:p>
            <a:pPr algn="l"/>
            <a:r>
              <a:rPr sz="1800" b="0" i="0">
                <a:solidFill>
                  <a:srgbClr val="FFFFFF"/>
                </a:solidFill>
                <a:latin typeface="Arial"/>
              </a:rPr>
              <a:t>Holdfast Protocol anchors this key on-chain via Solana's native secp256r1 precompile (SIMD-48)</a:t>
            </a:r>
          </a:p>
        </p:txBody>
      </p:sp>
      <p:sp>
        <p:nvSpPr>
          <p:cNvPr id="21" name="TextBox 20"/>
          <p:cNvSpPr txBox="1"/>
          <p:nvPr/>
        </p:nvSpPr>
        <p:spPr>
          <a:xfrm>
            <a:off x="530352" y="4023360"/>
            <a:ext cx="228600" cy="320040"/>
          </a:xfrm>
          <a:prstGeom prst="rect">
            <a:avLst/>
          </a:prstGeom>
          <a:noFill/>
        </p:spPr>
        <p:txBody>
          <a:bodyPr wrap="square">
            <a:spAutoFit/>
          </a:bodyPr>
          <a:lstStyle/>
          <a:p>
            <a:pPr algn="ctr"/>
            <a:r>
              <a:rPr sz="1400" b="0" i="0">
                <a:solidFill>
                  <a:srgbClr val="8B949E"/>
                </a:solidFill>
                <a:latin typeface="Arial"/>
              </a:rPr>
              <a:t>↓</a:t>
            </a:r>
          </a:p>
        </p:txBody>
      </p:sp>
      <p:sp>
        <p:nvSpPr>
          <p:cNvPr id="22" name="Rectangle 21"/>
          <p:cNvSpPr/>
          <p:nvPr/>
        </p:nvSpPr>
        <p:spPr>
          <a:xfrm>
            <a:off x="457200" y="4453128"/>
            <a:ext cx="320040" cy="320040"/>
          </a:xfrm>
          <a:prstGeom prst="rect">
            <a:avLst/>
          </a:prstGeom>
          <a:solidFill>
            <a:srgbClr val="14F195"/>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4434840"/>
            <a:ext cx="292608" cy="347472"/>
          </a:xfrm>
          <a:prstGeom prst="rect">
            <a:avLst/>
          </a:prstGeom>
          <a:noFill/>
        </p:spPr>
        <p:txBody>
          <a:bodyPr wrap="square">
            <a:spAutoFit/>
          </a:bodyPr>
          <a:lstStyle/>
          <a:p>
            <a:pPr algn="ctr"/>
            <a:r>
              <a:rPr sz="1300" b="1" i="0">
                <a:solidFill>
                  <a:srgbClr val="FFFFFF"/>
                </a:solidFill>
                <a:latin typeface="Arial"/>
              </a:rPr>
              <a:t>4</a:t>
            </a:r>
          </a:p>
        </p:txBody>
      </p:sp>
      <p:sp>
        <p:nvSpPr>
          <p:cNvPr id="24" name="TextBox 23"/>
          <p:cNvSpPr txBox="1"/>
          <p:nvPr/>
        </p:nvSpPr>
        <p:spPr>
          <a:xfrm>
            <a:off x="960120" y="4343400"/>
            <a:ext cx="10515600" cy="548640"/>
          </a:xfrm>
          <a:prstGeom prst="rect">
            <a:avLst/>
          </a:prstGeom>
          <a:noFill/>
        </p:spPr>
        <p:txBody>
          <a:bodyPr wrap="square">
            <a:spAutoFit/>
          </a:bodyPr>
          <a:lstStyle/>
          <a:p>
            <a:pPr algn="l"/>
            <a:r>
              <a:rPr sz="1800" b="0" i="0">
                <a:solidFill>
                  <a:srgbClr val="14F195"/>
                </a:solidFill>
                <a:latin typeface="Arial"/>
              </a:rPr>
              <a:t>AgentWallet PDA — permanently on-chain, verifiable by anyone</a:t>
            </a:r>
          </a:p>
        </p:txBody>
      </p:sp>
      <p:sp>
        <p:nvSpPr>
          <p:cNvPr id="25" name="Rectangle 24"/>
          <p:cNvSpPr/>
          <p:nvPr/>
        </p:nvSpPr>
        <p:spPr>
          <a:xfrm>
            <a:off x="457200" y="5303520"/>
            <a:ext cx="11247120" cy="64008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376672"/>
            <a:ext cx="10972800" cy="502920"/>
          </a:xfrm>
          <a:prstGeom prst="rect">
            <a:avLst/>
          </a:prstGeom>
          <a:noFill/>
        </p:spPr>
        <p:txBody>
          <a:bodyPr wrap="square">
            <a:spAutoFit/>
          </a:bodyPr>
          <a:lstStyle/>
          <a:p>
            <a:pPr algn="ctr"/>
            <a:r>
              <a:rPr sz="1600" b="0" i="1">
                <a:solidFill>
                  <a:srgbClr val="14F195"/>
                </a:solidFill>
                <a:latin typeface="Arial"/>
              </a:rPr>
              <a:t>"Not a software key in an .env file.  A hardware-bound identity on Solana."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6  Reputation</a:t>
            </a:r>
          </a:p>
        </p:txBody>
      </p:sp>
      <p:sp>
        <p:nvSpPr>
          <p:cNvPr id="5" name="Rectangle 4"/>
          <p:cNvSpPr/>
          <p:nvPr/>
        </p:nvSpPr>
        <p:spPr>
          <a:xfrm>
            <a:off x="0" y="0"/>
            <a:ext cx="73152" cy="6858000"/>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74320"/>
            <a:ext cx="5486400" cy="411480"/>
          </a:xfrm>
          <a:prstGeom prst="rect">
            <a:avLst/>
          </a:prstGeom>
          <a:noFill/>
        </p:spPr>
        <p:txBody>
          <a:bodyPr wrap="square">
            <a:spAutoFit/>
          </a:bodyPr>
          <a:lstStyle/>
          <a:p>
            <a:pPr algn="l"/>
            <a:r>
              <a:rPr sz="1600" b="1" i="0">
                <a:solidFill>
                  <a:srgbClr val="9945FF"/>
                </a:solidFill>
                <a:latin typeface="Arial"/>
              </a:rPr>
              <a:t>Primitive 2</a:t>
            </a:r>
          </a:p>
        </p:txBody>
      </p:sp>
      <p:sp>
        <p:nvSpPr>
          <p:cNvPr id="7" name="TextBox 6"/>
          <p:cNvSpPr txBox="1"/>
          <p:nvPr/>
        </p:nvSpPr>
        <p:spPr>
          <a:xfrm>
            <a:off x="457200" y="640080"/>
            <a:ext cx="7315200" cy="685800"/>
          </a:xfrm>
          <a:prstGeom prst="rect">
            <a:avLst/>
          </a:prstGeom>
          <a:noFill/>
        </p:spPr>
        <p:txBody>
          <a:bodyPr wrap="square">
            <a:spAutoFit/>
          </a:bodyPr>
          <a:lstStyle/>
          <a:p>
            <a:pPr algn="l"/>
            <a:r>
              <a:rPr sz="4400" b="1" i="0">
                <a:solidFill>
                  <a:srgbClr val="FFFFFF"/>
                </a:solidFill>
                <a:latin typeface="Arial"/>
              </a:rPr>
              <a:t>Reputation</a:t>
            </a:r>
          </a:p>
        </p:txBody>
      </p:sp>
      <p:sp>
        <p:nvSpPr>
          <p:cNvPr id="8" name="TextBox 7"/>
          <p:cNvSpPr txBox="1"/>
          <p:nvPr/>
        </p:nvSpPr>
        <p:spPr>
          <a:xfrm>
            <a:off x="457200" y="1280160"/>
            <a:ext cx="9144000" cy="457200"/>
          </a:xfrm>
          <a:prstGeom prst="rect">
            <a:avLst/>
          </a:prstGeom>
          <a:noFill/>
        </p:spPr>
        <p:txBody>
          <a:bodyPr wrap="square">
            <a:spAutoFit/>
          </a:bodyPr>
          <a:lstStyle/>
          <a:p>
            <a:pPr algn="l"/>
            <a:r>
              <a:rPr sz="2000" b="0" i="0">
                <a:solidFill>
                  <a:srgbClr val="9945FF"/>
                </a:solidFill>
                <a:latin typeface="Arial"/>
              </a:rPr>
              <a:t>On-chain reputation oracle.</a:t>
            </a:r>
          </a:p>
        </p:txBody>
      </p:sp>
      <p:sp>
        <p:nvSpPr>
          <p:cNvPr id="9" name="Rectangle 8"/>
          <p:cNvSpPr/>
          <p:nvPr/>
        </p:nvSpPr>
        <p:spPr>
          <a:xfrm>
            <a:off x="457200" y="1828800"/>
            <a:ext cx="11277295" cy="25400"/>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80"/>
            <a:ext cx="6858000" cy="384048"/>
          </a:xfrm>
          <a:prstGeom prst="rect">
            <a:avLst/>
          </a:prstGeom>
          <a:noFill/>
        </p:spPr>
        <p:txBody>
          <a:bodyPr wrap="square">
            <a:spAutoFit/>
          </a:bodyPr>
          <a:lstStyle/>
          <a:p>
            <a:pPr algn="l"/>
            <a:r>
              <a:rPr sz="1600" b="0" i="0">
                <a:solidFill>
                  <a:srgbClr val="FFFFFF"/>
                </a:solidFill>
                <a:latin typeface="Arial"/>
              </a:rPr>
              <a:t>  ▸  Score: 0 – 10,000 basis points  (5,000 = neutral)</a:t>
            </a:r>
          </a:p>
        </p:txBody>
      </p:sp>
      <p:sp>
        <p:nvSpPr>
          <p:cNvPr id="11" name="TextBox 10"/>
          <p:cNvSpPr txBox="1"/>
          <p:nvPr/>
        </p:nvSpPr>
        <p:spPr>
          <a:xfrm>
            <a:off x="457200" y="2450592"/>
            <a:ext cx="6858000" cy="384048"/>
          </a:xfrm>
          <a:prstGeom prst="rect">
            <a:avLst/>
          </a:prstGeom>
          <a:noFill/>
        </p:spPr>
        <p:txBody>
          <a:bodyPr wrap="square">
            <a:spAutoFit/>
          </a:bodyPr>
          <a:lstStyle/>
          <a:p>
            <a:pPr algn="l"/>
            <a:r>
              <a:rPr sz="1600" b="0" i="0">
                <a:solidFill>
                  <a:srgbClr val="8B949E"/>
                </a:solidFill>
                <a:latin typeface="Arial"/>
              </a:rPr>
              <a:t>  ▸  Updated by: the protocol escrow program (not a human)</a:t>
            </a:r>
          </a:p>
        </p:txBody>
      </p:sp>
      <p:sp>
        <p:nvSpPr>
          <p:cNvPr id="12" name="TextBox 11"/>
          <p:cNvSpPr txBox="1"/>
          <p:nvPr/>
        </p:nvSpPr>
        <p:spPr>
          <a:xfrm>
            <a:off x="457200" y="2889504"/>
            <a:ext cx="6858000" cy="384048"/>
          </a:xfrm>
          <a:prstGeom prst="rect">
            <a:avLst/>
          </a:prstGeom>
          <a:noFill/>
        </p:spPr>
        <p:txBody>
          <a:bodyPr wrap="square">
            <a:spAutoFit/>
          </a:bodyPr>
          <a:lstStyle/>
          <a:p>
            <a:pPr algn="l"/>
            <a:r>
              <a:rPr sz="1600" b="0" i="0">
                <a:solidFill>
                  <a:srgbClr val="FFFFFF"/>
                </a:solidFill>
                <a:latin typeface="Arial"/>
              </a:rPr>
              <a:t>  ▸  Every pact outcome posted on-chain: fulfilled or disputed</a:t>
            </a:r>
          </a:p>
        </p:txBody>
      </p:sp>
      <p:sp>
        <p:nvSpPr>
          <p:cNvPr id="13" name="TextBox 12"/>
          <p:cNvSpPr txBox="1"/>
          <p:nvPr/>
        </p:nvSpPr>
        <p:spPr>
          <a:xfrm>
            <a:off x="457200" y="3328416"/>
            <a:ext cx="6858000" cy="384048"/>
          </a:xfrm>
          <a:prstGeom prst="rect">
            <a:avLst/>
          </a:prstGeom>
          <a:noFill/>
        </p:spPr>
        <p:txBody>
          <a:bodyPr wrap="square">
            <a:spAutoFit/>
          </a:bodyPr>
          <a:lstStyle/>
          <a:p>
            <a:pPr algn="l"/>
            <a:r>
              <a:rPr sz="1600" b="0" i="0">
                <a:solidFill>
                  <a:srgbClr val="8B949E"/>
                </a:solidFill>
                <a:latin typeface="Arial"/>
              </a:rPr>
              <a:t>  ▸  Score decays lazily toward neutral when inactive</a:t>
            </a:r>
          </a:p>
        </p:txBody>
      </p:sp>
      <p:sp>
        <p:nvSpPr>
          <p:cNvPr id="14" name="TextBox 13"/>
          <p:cNvSpPr txBox="1"/>
          <p:nvPr/>
        </p:nvSpPr>
        <p:spPr>
          <a:xfrm>
            <a:off x="457200" y="3767328"/>
            <a:ext cx="6858000" cy="384048"/>
          </a:xfrm>
          <a:prstGeom prst="rect">
            <a:avLst/>
          </a:prstGeom>
          <a:noFill/>
        </p:spPr>
        <p:txBody>
          <a:bodyPr wrap="square">
            <a:spAutoFit/>
          </a:bodyPr>
          <a:lstStyle/>
          <a:p>
            <a:pPr algn="l"/>
            <a:r>
              <a:rPr sz="1600" b="0" i="0">
                <a:solidFill>
                  <a:srgbClr val="9945FF"/>
                </a:solidFill>
                <a:latin typeface="Arial"/>
              </a:rPr>
              <a:t>  ▸  Readable by any Solana program via CPI — one account read</a:t>
            </a:r>
          </a:p>
        </p:txBody>
      </p:sp>
      <p:sp>
        <p:nvSpPr>
          <p:cNvPr id="15" name="TextBox 14"/>
          <p:cNvSpPr txBox="1"/>
          <p:nvPr/>
        </p:nvSpPr>
        <p:spPr>
          <a:xfrm>
            <a:off x="457200" y="4206240"/>
            <a:ext cx="6858000" cy="384048"/>
          </a:xfrm>
          <a:prstGeom prst="rect">
            <a:avLst/>
          </a:prstGeom>
          <a:noFill/>
        </p:spPr>
        <p:txBody>
          <a:bodyPr wrap="square">
            <a:spAutoFit/>
          </a:bodyPr>
          <a:lstStyle/>
          <a:p>
            <a:pPr algn="l"/>
            <a:r>
              <a:rPr sz="1600" b="0" i="0">
                <a:solidFill>
                  <a:srgbClr val="FFFFFF"/>
                </a:solidFill>
                <a:latin typeface="Arial"/>
              </a:rPr>
              <a:t>  ▸  No oracle fee. No bridge. No trust assumption.</a:t>
            </a:r>
          </a:p>
        </p:txBody>
      </p:sp>
      <p:sp>
        <p:nvSpPr>
          <p:cNvPr id="16" name="Rectangle 15"/>
          <p:cNvSpPr/>
          <p:nvPr/>
        </p:nvSpPr>
        <p:spPr>
          <a:xfrm>
            <a:off x="7589520" y="1920240"/>
            <a:ext cx="4297680" cy="2743200"/>
          </a:xfrm>
          <a:prstGeom prst="rect">
            <a:avLst/>
          </a:prstGeom>
          <a:solidFill>
            <a:srgbClr val="161B22"/>
          </a:solidFill>
          <a:ln w="1270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79" y="2057400"/>
            <a:ext cx="4023360" cy="274320"/>
          </a:xfrm>
          <a:prstGeom prst="rect">
            <a:avLst/>
          </a:prstGeom>
          <a:noFill/>
        </p:spPr>
        <p:txBody>
          <a:bodyPr wrap="square">
            <a:spAutoFit/>
          </a:bodyPr>
          <a:lstStyle/>
          <a:p>
            <a:pPr algn="l"/>
            <a:r>
              <a:rPr sz="1200" b="0" i="0">
                <a:solidFill>
                  <a:srgbClr val="8B949E"/>
                </a:solidFill>
                <a:latin typeface="Arial"/>
              </a:rPr>
              <a:t>const ok = await client</a:t>
            </a:r>
          </a:p>
        </p:txBody>
      </p:sp>
      <p:sp>
        <p:nvSpPr>
          <p:cNvPr id="18" name="TextBox 17"/>
          <p:cNvSpPr txBox="1"/>
          <p:nvPr/>
        </p:nvSpPr>
        <p:spPr>
          <a:xfrm>
            <a:off x="7726679" y="2331720"/>
            <a:ext cx="4023360" cy="274320"/>
          </a:xfrm>
          <a:prstGeom prst="rect">
            <a:avLst/>
          </a:prstGeom>
          <a:noFill/>
        </p:spPr>
        <p:txBody>
          <a:bodyPr wrap="square">
            <a:spAutoFit/>
          </a:bodyPr>
          <a:lstStyle/>
          <a:p>
            <a:pPr algn="l"/>
            <a:r>
              <a:rPr sz="1200" b="0" i="0">
                <a:solidFill>
                  <a:srgbClr val="8B949E"/>
                </a:solidFill>
                <a:latin typeface="Arial"/>
              </a:rPr>
              <a:t>  .reputation</a:t>
            </a:r>
          </a:p>
        </p:txBody>
      </p:sp>
      <p:sp>
        <p:nvSpPr>
          <p:cNvPr id="19" name="TextBox 18"/>
          <p:cNvSpPr txBox="1"/>
          <p:nvPr/>
        </p:nvSpPr>
        <p:spPr>
          <a:xfrm>
            <a:off x="7726679" y="2606040"/>
            <a:ext cx="4023360" cy="274320"/>
          </a:xfrm>
          <a:prstGeom prst="rect">
            <a:avLst/>
          </a:prstGeom>
          <a:noFill/>
        </p:spPr>
        <p:txBody>
          <a:bodyPr wrap="square">
            <a:spAutoFit/>
          </a:bodyPr>
          <a:lstStyle/>
          <a:p>
            <a:pPr algn="l"/>
            <a:r>
              <a:rPr sz="1200" b="0" i="0">
                <a:solidFill>
                  <a:srgbClr val="8B949E"/>
                </a:solidFill>
                <a:latin typeface="Arial"/>
              </a:rPr>
              <a:t>  .meetsRequirements(</a:t>
            </a:r>
          </a:p>
        </p:txBody>
      </p:sp>
      <p:sp>
        <p:nvSpPr>
          <p:cNvPr id="20" name="TextBox 19"/>
          <p:cNvSpPr txBox="1"/>
          <p:nvPr/>
        </p:nvSpPr>
        <p:spPr>
          <a:xfrm>
            <a:off x="7726679" y="2880360"/>
            <a:ext cx="4023360" cy="274320"/>
          </a:xfrm>
          <a:prstGeom prst="rect">
            <a:avLst/>
          </a:prstGeom>
          <a:noFill/>
        </p:spPr>
        <p:txBody>
          <a:bodyPr wrap="square">
            <a:spAutoFit/>
          </a:bodyPr>
          <a:lstStyle/>
          <a:p>
            <a:pPr algn="l"/>
            <a:r>
              <a:rPr sz="1200" b="0" i="0">
                <a:solidFill>
                  <a:srgbClr val="FFFFFF"/>
                </a:solidFill>
                <a:latin typeface="Arial"/>
              </a:rPr>
              <a:t>    agentPubkey, {</a:t>
            </a:r>
          </a:p>
        </p:txBody>
      </p:sp>
      <p:sp>
        <p:nvSpPr>
          <p:cNvPr id="21" name="TextBox 20"/>
          <p:cNvSpPr txBox="1"/>
          <p:nvPr/>
        </p:nvSpPr>
        <p:spPr>
          <a:xfrm>
            <a:off x="7726679" y="3154680"/>
            <a:ext cx="4023360" cy="274320"/>
          </a:xfrm>
          <a:prstGeom prst="rect">
            <a:avLst/>
          </a:prstGeom>
          <a:noFill/>
        </p:spPr>
        <p:txBody>
          <a:bodyPr wrap="square">
            <a:spAutoFit/>
          </a:bodyPr>
          <a:lstStyle/>
          <a:p>
            <a:pPr algn="l"/>
            <a:r>
              <a:rPr sz="1200" b="0" i="0">
                <a:solidFill>
                  <a:srgbClr val="14F195"/>
                </a:solidFill>
                <a:latin typeface="Arial"/>
              </a:rPr>
              <a:t>    minScore: 6000,</a:t>
            </a:r>
          </a:p>
        </p:txBody>
      </p:sp>
      <p:sp>
        <p:nvSpPr>
          <p:cNvPr id="22" name="TextBox 21"/>
          <p:cNvSpPr txBox="1"/>
          <p:nvPr/>
        </p:nvSpPr>
        <p:spPr>
          <a:xfrm>
            <a:off x="7726679" y="3429000"/>
            <a:ext cx="4023360" cy="274320"/>
          </a:xfrm>
          <a:prstGeom prst="rect">
            <a:avLst/>
          </a:prstGeom>
          <a:noFill/>
        </p:spPr>
        <p:txBody>
          <a:bodyPr wrap="square">
            <a:spAutoFit/>
          </a:bodyPr>
          <a:lstStyle/>
          <a:p>
            <a:pPr algn="l"/>
            <a:r>
              <a:rPr sz="1200" b="0" i="0">
                <a:solidFill>
                  <a:srgbClr val="14F195"/>
                </a:solidFill>
                <a:latin typeface="Arial"/>
              </a:rPr>
              <a:t>    minTier: VerifTier.Attested,</a:t>
            </a:r>
          </a:p>
        </p:txBody>
      </p:sp>
      <p:sp>
        <p:nvSpPr>
          <p:cNvPr id="23" name="TextBox 22"/>
          <p:cNvSpPr txBox="1"/>
          <p:nvPr/>
        </p:nvSpPr>
        <p:spPr>
          <a:xfrm>
            <a:off x="7726679" y="3703320"/>
            <a:ext cx="4023360" cy="274320"/>
          </a:xfrm>
          <a:prstGeom prst="rect">
            <a:avLst/>
          </a:prstGeom>
          <a:noFill/>
        </p:spPr>
        <p:txBody>
          <a:bodyPr wrap="square">
            <a:spAutoFit/>
          </a:bodyPr>
          <a:lstStyle/>
          <a:p>
            <a:pPr algn="l"/>
            <a:r>
              <a:rPr sz="1200" b="0" i="0">
                <a:solidFill>
                  <a:srgbClr val="14F195"/>
                </a:solidFill>
                <a:latin typeface="Arial"/>
              </a:rPr>
              <a:t>    minPacts: 3,</a:t>
            </a:r>
          </a:p>
        </p:txBody>
      </p:sp>
      <p:sp>
        <p:nvSpPr>
          <p:cNvPr id="24" name="TextBox 23"/>
          <p:cNvSpPr txBox="1"/>
          <p:nvPr/>
        </p:nvSpPr>
        <p:spPr>
          <a:xfrm>
            <a:off x="7726679" y="3977640"/>
            <a:ext cx="4023360" cy="274320"/>
          </a:xfrm>
          <a:prstGeom prst="rect">
            <a:avLst/>
          </a:prstGeom>
          <a:noFill/>
        </p:spPr>
        <p:txBody>
          <a:bodyPr wrap="square">
            <a:spAutoFit/>
          </a:bodyPr>
          <a:lstStyle/>
          <a:p>
            <a:pPr algn="l"/>
            <a:r>
              <a:rPr sz="1200" b="0" i="0">
                <a:solidFill>
                  <a:srgbClr val="FFFFFF"/>
                </a:solidFill>
                <a:latin typeface="Arial"/>
              </a:rPr>
              <a:t>  }</a:t>
            </a:r>
          </a:p>
        </p:txBody>
      </p:sp>
      <p:sp>
        <p:nvSpPr>
          <p:cNvPr id="25" name="TextBox 24"/>
          <p:cNvSpPr txBox="1"/>
          <p:nvPr/>
        </p:nvSpPr>
        <p:spPr>
          <a:xfrm>
            <a:off x="7726679" y="4251960"/>
            <a:ext cx="4023360" cy="274320"/>
          </a:xfrm>
          <a:prstGeom prst="rect">
            <a:avLst/>
          </a:prstGeom>
          <a:noFill/>
        </p:spPr>
        <p:txBody>
          <a:bodyPr wrap="square">
            <a:spAutoFit/>
          </a:bodyPr>
          <a:lstStyle/>
          <a:p>
            <a:pPr algn="l"/>
            <a:r>
              <a:rPr sz="1200" b="0" i="0">
                <a:solidFill>
                  <a:srgbClr val="FFFFFF"/>
                </a:solidFill>
                <a:latin typeface="Arial"/>
              </a:rPr>
              <a:t>);</a:t>
            </a:r>
          </a:p>
        </p:txBody>
      </p:sp>
      <p:sp>
        <p:nvSpPr>
          <p:cNvPr id="26" name="TextBox 25"/>
          <p:cNvSpPr txBox="1"/>
          <p:nvPr/>
        </p:nvSpPr>
        <p:spPr>
          <a:xfrm>
            <a:off x="7589520" y="4754880"/>
            <a:ext cx="4297680" cy="640080"/>
          </a:xfrm>
          <a:prstGeom prst="rect">
            <a:avLst/>
          </a:prstGeom>
          <a:noFill/>
        </p:spPr>
        <p:txBody>
          <a:bodyPr wrap="square">
            <a:spAutoFit/>
          </a:bodyPr>
          <a:lstStyle/>
          <a:p>
            <a:pPr algn="ctr"/>
            <a:r>
              <a:rPr sz="1200" b="0" i="0">
                <a:solidFill>
                  <a:srgbClr val="8B949E"/>
                </a:solidFill>
                <a:latin typeface="Arial"/>
              </a:rPr>
              <a:t>Pre-flight matches on-chain constraint.
Returns false (not throws) for unknown agents.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7  Escrow</a:t>
            </a:r>
          </a:p>
        </p:txBody>
      </p:sp>
      <p:sp>
        <p:nvSpPr>
          <p:cNvPr id="5" name="Rectangle 4"/>
          <p:cNvSpPr/>
          <p:nvPr/>
        </p:nvSpPr>
        <p:spPr>
          <a:xfrm>
            <a:off x="0" y="0"/>
            <a:ext cx="73152" cy="68580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74320"/>
            <a:ext cx="5486400" cy="411480"/>
          </a:xfrm>
          <a:prstGeom prst="rect">
            <a:avLst/>
          </a:prstGeom>
          <a:noFill/>
        </p:spPr>
        <p:txBody>
          <a:bodyPr wrap="square">
            <a:spAutoFit/>
          </a:bodyPr>
          <a:lstStyle/>
          <a:p>
            <a:pPr algn="l"/>
            <a:r>
              <a:rPr sz="1600" b="1" i="0">
                <a:solidFill>
                  <a:srgbClr val="FFA500"/>
                </a:solidFill>
                <a:latin typeface="Arial"/>
              </a:rPr>
              <a:t>Primitive 3</a:t>
            </a:r>
          </a:p>
        </p:txBody>
      </p:sp>
      <p:sp>
        <p:nvSpPr>
          <p:cNvPr id="7" name="TextBox 6"/>
          <p:cNvSpPr txBox="1"/>
          <p:nvPr/>
        </p:nvSpPr>
        <p:spPr>
          <a:xfrm>
            <a:off x="457200" y="640080"/>
            <a:ext cx="7315200" cy="685800"/>
          </a:xfrm>
          <a:prstGeom prst="rect">
            <a:avLst/>
          </a:prstGeom>
          <a:noFill/>
        </p:spPr>
        <p:txBody>
          <a:bodyPr wrap="square">
            <a:spAutoFit/>
          </a:bodyPr>
          <a:lstStyle/>
          <a:p>
            <a:pPr algn="l"/>
            <a:r>
              <a:rPr sz="4400" b="1" i="0">
                <a:solidFill>
                  <a:srgbClr val="FFFFFF"/>
                </a:solidFill>
                <a:latin typeface="Arial"/>
              </a:rPr>
              <a:t>Escrow</a:t>
            </a:r>
          </a:p>
        </p:txBody>
      </p:sp>
      <p:sp>
        <p:nvSpPr>
          <p:cNvPr id="8" name="TextBox 7"/>
          <p:cNvSpPr txBox="1"/>
          <p:nvPr/>
        </p:nvSpPr>
        <p:spPr>
          <a:xfrm>
            <a:off x="457200" y="1280160"/>
            <a:ext cx="9144000" cy="457200"/>
          </a:xfrm>
          <a:prstGeom prst="rect">
            <a:avLst/>
          </a:prstGeom>
          <a:noFill/>
        </p:spPr>
        <p:txBody>
          <a:bodyPr wrap="square">
            <a:spAutoFit/>
          </a:bodyPr>
          <a:lstStyle/>
          <a:p>
            <a:pPr algn="l"/>
            <a:r>
              <a:rPr sz="2000" b="0" i="0">
                <a:solidFill>
                  <a:srgbClr val="FFA500"/>
                </a:solidFill>
                <a:latin typeface="Arial"/>
              </a:rPr>
              <a:t>Programmable settlement for AI agent commerce.</a:t>
            </a:r>
          </a:p>
        </p:txBody>
      </p:sp>
      <p:sp>
        <p:nvSpPr>
          <p:cNvPr id="9" name="Rectangle 8"/>
          <p:cNvSpPr/>
          <p:nvPr/>
        </p:nvSpPr>
        <p:spPr>
          <a:xfrm>
            <a:off x="457200" y="1828800"/>
            <a:ext cx="11277295" cy="254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03120"/>
            <a:ext cx="1920240" cy="73152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03120"/>
            <a:ext cx="1920240" cy="731520"/>
          </a:xfrm>
          <a:prstGeom prst="rect">
            <a:avLst/>
          </a:prstGeom>
          <a:noFill/>
        </p:spPr>
        <p:txBody>
          <a:bodyPr wrap="square">
            <a:spAutoFit/>
          </a:bodyPr>
          <a:lstStyle/>
          <a:p>
            <a:pPr algn="ctr"/>
            <a:r>
              <a:rPr sz="1400" b="1" i="0">
                <a:solidFill>
                  <a:srgbClr val="14F195"/>
                </a:solidFill>
                <a:latin typeface="Arial"/>
              </a:rPr>
              <a:t>Create Pact</a:t>
            </a:r>
          </a:p>
        </p:txBody>
      </p:sp>
      <p:sp>
        <p:nvSpPr>
          <p:cNvPr id="12" name="TextBox 11"/>
          <p:cNvSpPr txBox="1"/>
          <p:nvPr/>
        </p:nvSpPr>
        <p:spPr>
          <a:xfrm>
            <a:off x="2423160" y="2286000"/>
            <a:ext cx="320040" cy="365760"/>
          </a:xfrm>
          <a:prstGeom prst="rect">
            <a:avLst/>
          </a:prstGeom>
          <a:noFill/>
        </p:spPr>
        <p:txBody>
          <a:bodyPr wrap="square">
            <a:spAutoFit/>
          </a:bodyPr>
          <a:lstStyle/>
          <a:p>
            <a:pPr algn="ctr"/>
            <a:r>
              <a:rPr sz="1800" b="0" i="0">
                <a:solidFill>
                  <a:srgbClr val="8B949E"/>
                </a:solidFill>
                <a:latin typeface="Arial"/>
              </a:rPr>
              <a:t>→</a:t>
            </a:r>
          </a:p>
        </p:txBody>
      </p:sp>
      <p:sp>
        <p:nvSpPr>
          <p:cNvPr id="13" name="Rectangle 12"/>
          <p:cNvSpPr/>
          <p:nvPr/>
        </p:nvSpPr>
        <p:spPr>
          <a:xfrm>
            <a:off x="2743200" y="2103120"/>
            <a:ext cx="1920240" cy="73152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103120"/>
            <a:ext cx="1920240" cy="731520"/>
          </a:xfrm>
          <a:prstGeom prst="rect">
            <a:avLst/>
          </a:prstGeom>
          <a:noFill/>
        </p:spPr>
        <p:txBody>
          <a:bodyPr wrap="square">
            <a:spAutoFit/>
          </a:bodyPr>
          <a:lstStyle/>
          <a:p>
            <a:pPr algn="ctr"/>
            <a:r>
              <a:rPr sz="1400" b="1" i="0">
                <a:solidFill>
                  <a:srgbClr val="14F195"/>
                </a:solidFill>
                <a:latin typeface="Arial"/>
              </a:rPr>
              <a:t>Fund</a:t>
            </a:r>
          </a:p>
        </p:txBody>
      </p:sp>
      <p:sp>
        <p:nvSpPr>
          <p:cNvPr id="15" name="TextBox 14"/>
          <p:cNvSpPr txBox="1"/>
          <p:nvPr/>
        </p:nvSpPr>
        <p:spPr>
          <a:xfrm>
            <a:off x="4709160" y="2286000"/>
            <a:ext cx="320040" cy="365760"/>
          </a:xfrm>
          <a:prstGeom prst="rect">
            <a:avLst/>
          </a:prstGeom>
          <a:noFill/>
        </p:spPr>
        <p:txBody>
          <a:bodyPr wrap="square">
            <a:spAutoFit/>
          </a:bodyPr>
          <a:lstStyle/>
          <a:p>
            <a:pPr algn="ctr"/>
            <a:r>
              <a:rPr sz="1800" b="0" i="0">
                <a:solidFill>
                  <a:srgbClr val="8B949E"/>
                </a:solidFill>
                <a:latin typeface="Arial"/>
              </a:rPr>
              <a:t>→</a:t>
            </a:r>
          </a:p>
        </p:txBody>
      </p:sp>
      <p:sp>
        <p:nvSpPr>
          <p:cNvPr id="16" name="Rectangle 15"/>
          <p:cNvSpPr/>
          <p:nvPr/>
        </p:nvSpPr>
        <p:spPr>
          <a:xfrm>
            <a:off x="5029200" y="2103120"/>
            <a:ext cx="1920240" cy="73152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103120"/>
            <a:ext cx="1920240" cy="731520"/>
          </a:xfrm>
          <a:prstGeom prst="rect">
            <a:avLst/>
          </a:prstGeom>
          <a:noFill/>
        </p:spPr>
        <p:txBody>
          <a:bodyPr wrap="square">
            <a:spAutoFit/>
          </a:bodyPr>
          <a:lstStyle/>
          <a:p>
            <a:pPr algn="ctr"/>
            <a:r>
              <a:rPr sz="1400" b="1" i="0">
                <a:solidFill>
                  <a:srgbClr val="14F195"/>
                </a:solidFill>
                <a:latin typeface="Arial"/>
              </a:rPr>
              <a:t>Release</a:t>
            </a:r>
          </a:p>
        </p:txBody>
      </p:sp>
      <p:sp>
        <p:nvSpPr>
          <p:cNvPr id="18" name="TextBox 17"/>
          <p:cNvSpPr txBox="1"/>
          <p:nvPr/>
        </p:nvSpPr>
        <p:spPr>
          <a:xfrm>
            <a:off x="6995160" y="2286000"/>
            <a:ext cx="320040" cy="365760"/>
          </a:xfrm>
          <a:prstGeom prst="rect">
            <a:avLst/>
          </a:prstGeom>
          <a:noFill/>
        </p:spPr>
        <p:txBody>
          <a:bodyPr wrap="square">
            <a:spAutoFit/>
          </a:bodyPr>
          <a:lstStyle/>
          <a:p>
            <a:pPr algn="ctr"/>
            <a:r>
              <a:rPr sz="1800" b="0" i="0">
                <a:solidFill>
                  <a:srgbClr val="8B949E"/>
                </a:solidFill>
                <a:latin typeface="Arial"/>
              </a:rPr>
              <a:t>→</a:t>
            </a:r>
          </a:p>
        </p:txBody>
      </p:sp>
      <p:sp>
        <p:nvSpPr>
          <p:cNvPr id="19" name="Rectangle 18"/>
          <p:cNvSpPr/>
          <p:nvPr/>
        </p:nvSpPr>
        <p:spPr>
          <a:xfrm>
            <a:off x="7315200" y="2103120"/>
            <a:ext cx="1920240" cy="731520"/>
          </a:xfrm>
          <a:prstGeom prst="rect">
            <a:avLst/>
          </a:prstGeom>
          <a:solidFill>
            <a:srgbClr val="161B22"/>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2103120"/>
            <a:ext cx="1920240" cy="731520"/>
          </a:xfrm>
          <a:prstGeom prst="rect">
            <a:avLst/>
          </a:prstGeom>
          <a:noFill/>
        </p:spPr>
        <p:txBody>
          <a:bodyPr wrap="square">
            <a:spAutoFit/>
          </a:bodyPr>
          <a:lstStyle/>
          <a:p>
            <a:pPr algn="ctr"/>
            <a:r>
              <a:rPr sz="1400" b="1" i="0">
                <a:solidFill>
                  <a:srgbClr val="FF6B6B"/>
                </a:solidFill>
                <a:latin typeface="Arial"/>
              </a:rPr>
              <a:t>Dispute
(optional)</a:t>
            </a:r>
          </a:p>
        </p:txBody>
      </p:sp>
      <p:sp>
        <p:nvSpPr>
          <p:cNvPr id="21" name="TextBox 20"/>
          <p:cNvSpPr txBox="1"/>
          <p:nvPr/>
        </p:nvSpPr>
        <p:spPr>
          <a:xfrm>
            <a:off x="9281160" y="2286000"/>
            <a:ext cx="320040" cy="365760"/>
          </a:xfrm>
          <a:prstGeom prst="rect">
            <a:avLst/>
          </a:prstGeom>
          <a:noFill/>
        </p:spPr>
        <p:txBody>
          <a:bodyPr wrap="square">
            <a:spAutoFit/>
          </a:bodyPr>
          <a:lstStyle/>
          <a:p>
            <a:pPr algn="ctr"/>
            <a:r>
              <a:rPr sz="1800" b="0" i="0">
                <a:solidFill>
                  <a:srgbClr val="8B949E"/>
                </a:solidFill>
                <a:latin typeface="Arial"/>
              </a:rPr>
              <a:t>→</a:t>
            </a:r>
          </a:p>
        </p:txBody>
      </p:sp>
      <p:sp>
        <p:nvSpPr>
          <p:cNvPr id="22" name="Rectangle 21"/>
          <p:cNvSpPr/>
          <p:nvPr/>
        </p:nvSpPr>
        <p:spPr>
          <a:xfrm>
            <a:off x="9601200" y="2103120"/>
            <a:ext cx="1920240" cy="731520"/>
          </a:xfrm>
          <a:prstGeom prst="rect">
            <a:avLst/>
          </a:prstGeom>
          <a:solidFill>
            <a:srgbClr val="161B22"/>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2103120"/>
            <a:ext cx="1920240" cy="731520"/>
          </a:xfrm>
          <a:prstGeom prst="rect">
            <a:avLst/>
          </a:prstGeom>
          <a:noFill/>
        </p:spPr>
        <p:txBody>
          <a:bodyPr wrap="square">
            <a:spAutoFit/>
          </a:bodyPr>
          <a:lstStyle/>
          <a:p>
            <a:pPr algn="ctr"/>
            <a:r>
              <a:rPr sz="1400" b="1" i="0">
                <a:solidFill>
                  <a:srgbClr val="FFA500"/>
                </a:solidFill>
                <a:latin typeface="Arial"/>
              </a:rPr>
              <a:t>Resolve</a:t>
            </a:r>
          </a:p>
        </p:txBody>
      </p:sp>
      <p:sp>
        <p:nvSpPr>
          <p:cNvPr id="24" name="TextBox 23"/>
          <p:cNvSpPr txBox="1"/>
          <p:nvPr/>
        </p:nvSpPr>
        <p:spPr>
          <a:xfrm>
            <a:off x="457200" y="3108960"/>
            <a:ext cx="7772400" cy="384048"/>
          </a:xfrm>
          <a:prstGeom prst="rect">
            <a:avLst/>
          </a:prstGeom>
          <a:noFill/>
        </p:spPr>
        <p:txBody>
          <a:bodyPr wrap="square">
            <a:spAutoFit/>
          </a:bodyPr>
          <a:lstStyle/>
          <a:p>
            <a:pPr algn="l"/>
            <a:r>
              <a:rPr sz="1700" b="0" i="0">
                <a:solidFill>
                  <a:srgbClr val="FFFFFF"/>
                </a:solidFill>
                <a:latin typeface="Arial"/>
              </a:rPr>
              <a:t>  ▸  Task-based, milestone-gated, or time-locked release conditions.</a:t>
            </a:r>
          </a:p>
        </p:txBody>
      </p:sp>
      <p:sp>
        <p:nvSpPr>
          <p:cNvPr id="25" name="TextBox 24"/>
          <p:cNvSpPr txBox="1"/>
          <p:nvPr/>
        </p:nvSpPr>
        <p:spPr>
          <a:xfrm>
            <a:off x="457200" y="3566160"/>
            <a:ext cx="7772400" cy="384048"/>
          </a:xfrm>
          <a:prstGeom prst="rect">
            <a:avLst/>
          </a:prstGeom>
          <a:noFill/>
        </p:spPr>
        <p:txBody>
          <a:bodyPr wrap="square">
            <a:spAutoFit/>
          </a:bodyPr>
          <a:lstStyle/>
          <a:p>
            <a:pPr algn="l"/>
            <a:r>
              <a:rPr sz="1700" b="0" i="0">
                <a:solidFill>
                  <a:srgbClr val="FFFFFF"/>
                </a:solidFill>
                <a:latin typeface="Arial"/>
              </a:rPr>
              <a:t>  ▸  Funds lock at pact initiation.</a:t>
            </a:r>
          </a:p>
        </p:txBody>
      </p:sp>
      <p:sp>
        <p:nvSpPr>
          <p:cNvPr id="26" name="TextBox 25"/>
          <p:cNvSpPr txBox="1"/>
          <p:nvPr/>
        </p:nvSpPr>
        <p:spPr>
          <a:xfrm>
            <a:off x="457200" y="4023360"/>
            <a:ext cx="7772400" cy="384048"/>
          </a:xfrm>
          <a:prstGeom prst="rect">
            <a:avLst/>
          </a:prstGeom>
          <a:noFill/>
        </p:spPr>
        <p:txBody>
          <a:bodyPr wrap="square">
            <a:spAutoFit/>
          </a:bodyPr>
          <a:lstStyle/>
          <a:p>
            <a:pPr algn="l"/>
            <a:r>
              <a:rPr sz="1700" b="0" i="0">
                <a:solidFill>
                  <a:srgbClr val="FFFFFF"/>
                </a:solidFill>
                <a:latin typeface="Arial"/>
              </a:rPr>
              <a:t>  ▸  Release opens a 7-day dispute window before final settlement.</a:t>
            </a:r>
          </a:p>
        </p:txBody>
      </p:sp>
      <p:sp>
        <p:nvSpPr>
          <p:cNvPr id="27" name="TextBox 26"/>
          <p:cNvSpPr txBox="1"/>
          <p:nvPr/>
        </p:nvSpPr>
        <p:spPr>
          <a:xfrm>
            <a:off x="457200" y="4480560"/>
            <a:ext cx="7772400" cy="384048"/>
          </a:xfrm>
          <a:prstGeom prst="rect">
            <a:avLst/>
          </a:prstGeom>
          <a:noFill/>
        </p:spPr>
        <p:txBody>
          <a:bodyPr wrap="square">
            <a:spAutoFit/>
          </a:bodyPr>
          <a:lstStyle/>
          <a:p>
            <a:pPr algn="l"/>
            <a:r>
              <a:rPr sz="1700" b="0" i="0">
                <a:solidFill>
                  <a:srgbClr val="FFFFFF"/>
                </a:solidFill>
                <a:latin typeface="Arial"/>
              </a:rPr>
              <a:t>  ▸  Disputes trigger arbiter resolution with on-chain finality.</a:t>
            </a:r>
          </a:p>
        </p:txBody>
      </p:sp>
      <p:sp>
        <p:nvSpPr>
          <p:cNvPr id="28" name="Rectangle 27"/>
          <p:cNvSpPr/>
          <p:nvPr/>
        </p:nvSpPr>
        <p:spPr>
          <a:xfrm>
            <a:off x="8229600" y="2057400"/>
            <a:ext cx="3657600" cy="2560320"/>
          </a:xfrm>
          <a:prstGeom prst="rect">
            <a:avLst/>
          </a:prstGeom>
          <a:solidFill>
            <a:srgbClr val="161B22"/>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2194560"/>
            <a:ext cx="3474720" cy="411480"/>
          </a:xfrm>
          <a:prstGeom prst="rect">
            <a:avLst/>
          </a:prstGeom>
          <a:noFill/>
        </p:spPr>
        <p:txBody>
          <a:bodyPr wrap="square">
            <a:spAutoFit/>
          </a:bodyPr>
          <a:lstStyle/>
          <a:p>
            <a:pPr algn="l"/>
            <a:r>
              <a:rPr sz="1400" b="1" i="0">
                <a:solidFill>
                  <a:srgbClr val="FFA500"/>
                </a:solidFill>
                <a:latin typeface="Arial"/>
              </a:rPr>
              <a:t>Reputation gating built in:</a:t>
            </a:r>
          </a:p>
        </p:txBody>
      </p:sp>
      <p:sp>
        <p:nvSpPr>
          <p:cNvPr id="30" name="TextBox 29"/>
          <p:cNvSpPr txBox="1"/>
          <p:nvPr/>
        </p:nvSpPr>
        <p:spPr>
          <a:xfrm>
            <a:off x="8321040" y="2651760"/>
            <a:ext cx="3474720" cy="1645920"/>
          </a:xfrm>
          <a:prstGeom prst="rect">
            <a:avLst/>
          </a:prstGeom>
          <a:noFill/>
        </p:spPr>
        <p:txBody>
          <a:bodyPr wrap="square">
            <a:spAutoFit/>
          </a:bodyPr>
          <a:lstStyle/>
          <a:p>
            <a:pPr algn="l"/>
            <a:r>
              <a:rPr sz="1300" b="0" i="0">
                <a:solidFill>
                  <a:srgbClr val="FFFFFF"/>
                </a:solidFill>
                <a:latin typeface="Arial"/>
              </a:rPr>
              <a:t>Pre-flight checks counterparty
score before any funds move.
If threshold not met →
ReputationThresholdNotMet
(before fees, before commitment)</a:t>
            </a:r>
          </a:p>
        </p:txBody>
      </p:sp>
      <p:sp>
        <p:nvSpPr>
          <p:cNvPr id="31" name="Rectangle 30"/>
          <p:cNvSpPr/>
          <p:nvPr/>
        </p:nvSpPr>
        <p:spPr>
          <a:xfrm>
            <a:off x="457200" y="5394960"/>
            <a:ext cx="11247120" cy="594360"/>
          </a:xfrm>
          <a:prstGeom prst="rect">
            <a:avLst/>
          </a:prstGeom>
          <a:solidFill>
            <a:srgbClr val="161B22"/>
          </a:solidFill>
          <a:ln w="1270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468112"/>
            <a:ext cx="10972800" cy="457200"/>
          </a:xfrm>
          <a:prstGeom prst="rect">
            <a:avLst/>
          </a:prstGeom>
          <a:noFill/>
        </p:spPr>
        <p:txBody>
          <a:bodyPr wrap="square">
            <a:spAutoFit/>
          </a:bodyPr>
          <a:lstStyle/>
          <a:p>
            <a:pPr algn="ctr"/>
            <a:r>
              <a:rPr sz="1600" b="0" i="1">
                <a:solidFill>
                  <a:srgbClr val="FFA500"/>
                </a:solidFill>
                <a:latin typeface="Arial"/>
              </a:rPr>
              <a:t>"The agent can't just walk away.  The chain holds it accountable."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8  Why Solana</a:t>
            </a:r>
          </a:p>
        </p:txBody>
      </p:sp>
      <p:sp>
        <p:nvSpPr>
          <p:cNvPr id="5" name="TextBox 4"/>
          <p:cNvSpPr txBox="1"/>
          <p:nvPr/>
        </p:nvSpPr>
        <p:spPr>
          <a:xfrm>
            <a:off x="548640" y="365760"/>
            <a:ext cx="10972800" cy="685800"/>
          </a:xfrm>
          <a:prstGeom prst="rect">
            <a:avLst/>
          </a:prstGeom>
          <a:noFill/>
        </p:spPr>
        <p:txBody>
          <a:bodyPr wrap="square">
            <a:spAutoFit/>
          </a:bodyPr>
          <a:lstStyle/>
          <a:p>
            <a:pPr algn="l"/>
            <a:r>
              <a:rPr sz="4000" b="1" i="0">
                <a:solidFill>
                  <a:srgbClr val="FFFFFF"/>
                </a:solidFill>
                <a:latin typeface="Arial"/>
              </a:rPr>
              <a:t>Why Solana — not EVM?</a:t>
            </a:r>
          </a:p>
        </p:txBody>
      </p:sp>
      <p:sp>
        <p:nvSpPr>
          <p:cNvPr id="6" name="Rectangle 5"/>
          <p:cNvSpPr/>
          <p:nvPr/>
        </p:nvSpPr>
        <p:spPr>
          <a:xfrm>
            <a:off x="457200" y="109728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34440"/>
            <a:ext cx="2743200" cy="6400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25880"/>
            <a:ext cx="2560320" cy="502920"/>
          </a:xfrm>
          <a:prstGeom prst="rect">
            <a:avLst/>
          </a:prstGeom>
          <a:noFill/>
        </p:spPr>
        <p:txBody>
          <a:bodyPr wrap="square">
            <a:spAutoFit/>
          </a:bodyPr>
          <a:lstStyle/>
          <a:p>
            <a:pPr algn="ctr"/>
            <a:r>
              <a:rPr sz="1400" b="1" i="0">
                <a:solidFill>
                  <a:srgbClr val="FFFFFF"/>
                </a:solidFill>
                <a:latin typeface="Arial"/>
              </a:rPr>
              <a:t/>
            </a:r>
          </a:p>
        </p:txBody>
      </p:sp>
      <p:sp>
        <p:nvSpPr>
          <p:cNvPr id="9" name="Rectangle 8"/>
          <p:cNvSpPr/>
          <p:nvPr/>
        </p:nvSpPr>
        <p:spPr>
          <a:xfrm>
            <a:off x="3291840" y="1234440"/>
            <a:ext cx="4114800" cy="640080"/>
          </a:xfrm>
          <a:prstGeom prst="rect">
            <a:avLst/>
          </a:prstGeom>
          <a:solidFill>
            <a:srgbClr val="10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325880"/>
            <a:ext cx="3931920" cy="502920"/>
          </a:xfrm>
          <a:prstGeom prst="rect">
            <a:avLst/>
          </a:prstGeom>
          <a:noFill/>
        </p:spPr>
        <p:txBody>
          <a:bodyPr wrap="square">
            <a:spAutoFit/>
          </a:bodyPr>
          <a:lstStyle/>
          <a:p>
            <a:pPr algn="ctr"/>
            <a:r>
              <a:rPr sz="1400" b="1" i="0">
                <a:solidFill>
                  <a:srgbClr val="14F195"/>
                </a:solidFill>
                <a:latin typeface="Arial"/>
              </a:rPr>
              <a:t>Holdfast Protocol
on Solana</a:t>
            </a:r>
          </a:p>
        </p:txBody>
      </p:sp>
      <p:sp>
        <p:nvSpPr>
          <p:cNvPr id="11" name="Rectangle 10"/>
          <p:cNvSpPr/>
          <p:nvPr/>
        </p:nvSpPr>
        <p:spPr>
          <a:xfrm>
            <a:off x="7406640" y="1234440"/>
            <a:ext cx="4114800" cy="64008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1325880"/>
            <a:ext cx="3931920" cy="502920"/>
          </a:xfrm>
          <a:prstGeom prst="rect">
            <a:avLst/>
          </a:prstGeom>
          <a:noFill/>
        </p:spPr>
        <p:txBody>
          <a:bodyPr wrap="square">
            <a:spAutoFit/>
          </a:bodyPr>
          <a:lstStyle/>
          <a:p>
            <a:pPr algn="ctr"/>
            <a:r>
              <a:rPr sz="1400" b="1" i="0">
                <a:solidFill>
                  <a:srgbClr val="FFFFFF"/>
                </a:solidFill>
                <a:latin typeface="Arial"/>
              </a:rPr>
              <a:t>EAS / EVM forks</a:t>
            </a:r>
          </a:p>
        </p:txBody>
      </p:sp>
      <p:sp>
        <p:nvSpPr>
          <p:cNvPr id="13" name="Rectangle 12"/>
          <p:cNvSpPr/>
          <p:nvPr/>
        </p:nvSpPr>
        <p:spPr>
          <a:xfrm>
            <a:off x="548640" y="1874520"/>
            <a:ext cx="27432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920240"/>
            <a:ext cx="2560320" cy="548640"/>
          </a:xfrm>
          <a:prstGeom prst="rect">
            <a:avLst/>
          </a:prstGeom>
          <a:noFill/>
        </p:spPr>
        <p:txBody>
          <a:bodyPr wrap="square">
            <a:spAutoFit/>
          </a:bodyPr>
          <a:lstStyle/>
          <a:p>
            <a:pPr algn="l"/>
            <a:r>
              <a:rPr sz="1300" b="1" i="0">
                <a:solidFill>
                  <a:srgbClr val="FFFFFF"/>
                </a:solidFill>
                <a:latin typeface="Arial"/>
              </a:rPr>
              <a:t>Attestation</a:t>
            </a:r>
          </a:p>
        </p:txBody>
      </p:sp>
      <p:sp>
        <p:nvSpPr>
          <p:cNvPr id="15" name="Rectangle 14"/>
          <p:cNvSpPr/>
          <p:nvPr/>
        </p:nvSpPr>
        <p:spPr>
          <a:xfrm>
            <a:off x="3291840" y="1874520"/>
            <a:ext cx="4114800" cy="640080"/>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920240"/>
            <a:ext cx="3931920" cy="548640"/>
          </a:xfrm>
          <a:prstGeom prst="rect">
            <a:avLst/>
          </a:prstGeom>
          <a:noFill/>
        </p:spPr>
        <p:txBody>
          <a:bodyPr wrap="square">
            <a:spAutoFit/>
          </a:bodyPr>
          <a:lstStyle/>
          <a:p>
            <a:pPr algn="l"/>
            <a:r>
              <a:rPr sz="1300" b="0" i="0">
                <a:solidFill>
                  <a:srgbClr val="14F195"/>
                </a:solidFill>
                <a:latin typeface="Arial"/>
              </a:rPr>
              <a:t>Same instruction as
program execution</a:t>
            </a:r>
          </a:p>
        </p:txBody>
      </p:sp>
      <p:sp>
        <p:nvSpPr>
          <p:cNvPr id="17" name="Rectangle 16"/>
          <p:cNvSpPr/>
          <p:nvPr/>
        </p:nvSpPr>
        <p:spPr>
          <a:xfrm>
            <a:off x="7406640" y="1874520"/>
            <a:ext cx="41148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0" y="1920240"/>
            <a:ext cx="3931920" cy="548640"/>
          </a:xfrm>
          <a:prstGeom prst="rect">
            <a:avLst/>
          </a:prstGeom>
          <a:noFill/>
        </p:spPr>
        <p:txBody>
          <a:bodyPr wrap="square">
            <a:spAutoFit/>
          </a:bodyPr>
          <a:lstStyle/>
          <a:p>
            <a:pPr algn="l"/>
            <a:r>
              <a:rPr sz="1300" b="0" i="0">
                <a:solidFill>
                  <a:srgbClr val="8B949E"/>
                </a:solidFill>
                <a:latin typeface="Arial"/>
              </a:rPr>
              <a:t>Separate contract call</a:t>
            </a:r>
          </a:p>
        </p:txBody>
      </p:sp>
      <p:sp>
        <p:nvSpPr>
          <p:cNvPr id="19" name="Rectangle 18"/>
          <p:cNvSpPr/>
          <p:nvPr/>
        </p:nvSpPr>
        <p:spPr>
          <a:xfrm>
            <a:off x="548640" y="2514600"/>
            <a:ext cx="27432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560320"/>
            <a:ext cx="2560320" cy="548640"/>
          </a:xfrm>
          <a:prstGeom prst="rect">
            <a:avLst/>
          </a:prstGeom>
          <a:noFill/>
        </p:spPr>
        <p:txBody>
          <a:bodyPr wrap="square">
            <a:spAutoFit/>
          </a:bodyPr>
          <a:lstStyle/>
          <a:p>
            <a:pPr algn="l"/>
            <a:r>
              <a:rPr sz="1300" b="1" i="0">
                <a:solidFill>
                  <a:srgbClr val="FFFFFF"/>
                </a:solidFill>
                <a:latin typeface="Arial"/>
              </a:rPr>
              <a:t>Cost per operation</a:t>
            </a:r>
          </a:p>
        </p:txBody>
      </p:sp>
      <p:sp>
        <p:nvSpPr>
          <p:cNvPr id="21" name="Rectangle 20"/>
          <p:cNvSpPr/>
          <p:nvPr/>
        </p:nvSpPr>
        <p:spPr>
          <a:xfrm>
            <a:off x="3291840" y="2514600"/>
            <a:ext cx="4114800" cy="640080"/>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2560320"/>
            <a:ext cx="3931920" cy="548640"/>
          </a:xfrm>
          <a:prstGeom prst="rect">
            <a:avLst/>
          </a:prstGeom>
          <a:noFill/>
        </p:spPr>
        <p:txBody>
          <a:bodyPr wrap="square">
            <a:spAutoFit/>
          </a:bodyPr>
          <a:lstStyle/>
          <a:p>
            <a:pPr algn="l"/>
            <a:r>
              <a:rPr sz="1300" b="0" i="0">
                <a:solidFill>
                  <a:srgbClr val="14F195"/>
                </a:solidFill>
                <a:latin typeface="Arial"/>
              </a:rPr>
              <a:t>Sub-cent</a:t>
            </a:r>
          </a:p>
        </p:txBody>
      </p:sp>
      <p:sp>
        <p:nvSpPr>
          <p:cNvPr id="23" name="Rectangle 22"/>
          <p:cNvSpPr/>
          <p:nvPr/>
        </p:nvSpPr>
        <p:spPr>
          <a:xfrm>
            <a:off x="7406640" y="2514600"/>
            <a:ext cx="41148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0" y="2560320"/>
            <a:ext cx="3931920" cy="548640"/>
          </a:xfrm>
          <a:prstGeom prst="rect">
            <a:avLst/>
          </a:prstGeom>
          <a:noFill/>
        </p:spPr>
        <p:txBody>
          <a:bodyPr wrap="square">
            <a:spAutoFit/>
          </a:bodyPr>
          <a:lstStyle/>
          <a:p>
            <a:pPr algn="l"/>
            <a:r>
              <a:rPr sz="1300" b="0" i="0">
                <a:solidFill>
                  <a:srgbClr val="8B949E"/>
                </a:solidFill>
                <a:latin typeface="Arial"/>
              </a:rPr>
              <a:t>EVM gas — compounds at scale</a:t>
            </a:r>
          </a:p>
        </p:txBody>
      </p:sp>
      <p:sp>
        <p:nvSpPr>
          <p:cNvPr id="25" name="Rectangle 24"/>
          <p:cNvSpPr/>
          <p:nvPr/>
        </p:nvSpPr>
        <p:spPr>
          <a:xfrm>
            <a:off x="548640" y="3154680"/>
            <a:ext cx="27432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200400"/>
            <a:ext cx="2560320" cy="548640"/>
          </a:xfrm>
          <a:prstGeom prst="rect">
            <a:avLst/>
          </a:prstGeom>
          <a:noFill/>
        </p:spPr>
        <p:txBody>
          <a:bodyPr wrap="square">
            <a:spAutoFit/>
          </a:bodyPr>
          <a:lstStyle/>
          <a:p>
            <a:pPr algn="l"/>
            <a:r>
              <a:rPr sz="1300" b="1" i="0">
                <a:solidFill>
                  <a:srgbClr val="FFFFFF"/>
                </a:solidFill>
                <a:latin typeface="Arial"/>
              </a:rPr>
              <a:t>Finality</a:t>
            </a:r>
          </a:p>
        </p:txBody>
      </p:sp>
      <p:sp>
        <p:nvSpPr>
          <p:cNvPr id="27" name="Rectangle 26"/>
          <p:cNvSpPr/>
          <p:nvPr/>
        </p:nvSpPr>
        <p:spPr>
          <a:xfrm>
            <a:off x="3291840" y="3154680"/>
            <a:ext cx="4114800" cy="640080"/>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3200400"/>
            <a:ext cx="3931920" cy="548640"/>
          </a:xfrm>
          <a:prstGeom prst="rect">
            <a:avLst/>
          </a:prstGeom>
          <a:noFill/>
        </p:spPr>
        <p:txBody>
          <a:bodyPr wrap="square">
            <a:spAutoFit/>
          </a:bodyPr>
          <a:lstStyle/>
          <a:p>
            <a:pPr algn="l"/>
            <a:r>
              <a:rPr sz="1300" b="0" i="0">
                <a:solidFill>
                  <a:srgbClr val="14F195"/>
                </a:solidFill>
                <a:latin typeface="Arial"/>
              </a:rPr>
              <a:t>~400ms</a:t>
            </a:r>
          </a:p>
        </p:txBody>
      </p:sp>
      <p:sp>
        <p:nvSpPr>
          <p:cNvPr id="29" name="Rectangle 28"/>
          <p:cNvSpPr/>
          <p:nvPr/>
        </p:nvSpPr>
        <p:spPr>
          <a:xfrm>
            <a:off x="7406640" y="3154680"/>
            <a:ext cx="41148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0" y="3200400"/>
            <a:ext cx="3931920" cy="548640"/>
          </a:xfrm>
          <a:prstGeom prst="rect">
            <a:avLst/>
          </a:prstGeom>
          <a:noFill/>
        </p:spPr>
        <p:txBody>
          <a:bodyPr wrap="square">
            <a:spAutoFit/>
          </a:bodyPr>
          <a:lstStyle/>
          <a:p>
            <a:pPr algn="l"/>
            <a:r>
              <a:rPr sz="1300" b="0" i="0">
                <a:solidFill>
                  <a:srgbClr val="8B949E"/>
                </a:solidFill>
                <a:latin typeface="Arial"/>
              </a:rPr>
              <a:t>~12 seconds (Ethereum)</a:t>
            </a:r>
          </a:p>
        </p:txBody>
      </p:sp>
      <p:sp>
        <p:nvSpPr>
          <p:cNvPr id="31" name="Rectangle 30"/>
          <p:cNvSpPr/>
          <p:nvPr/>
        </p:nvSpPr>
        <p:spPr>
          <a:xfrm>
            <a:off x="548640" y="3794760"/>
            <a:ext cx="27432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840480"/>
            <a:ext cx="2560320" cy="548640"/>
          </a:xfrm>
          <a:prstGeom prst="rect">
            <a:avLst/>
          </a:prstGeom>
          <a:noFill/>
        </p:spPr>
        <p:txBody>
          <a:bodyPr wrap="square">
            <a:spAutoFit/>
          </a:bodyPr>
          <a:lstStyle/>
          <a:p>
            <a:pPr algn="l"/>
            <a:r>
              <a:rPr sz="1300" b="1" i="0">
                <a:solidFill>
                  <a:srgbClr val="FFFFFF"/>
                </a:solidFill>
                <a:latin typeface="Arial"/>
              </a:rPr>
              <a:t>Composability</a:t>
            </a:r>
          </a:p>
        </p:txBody>
      </p:sp>
      <p:sp>
        <p:nvSpPr>
          <p:cNvPr id="33" name="Rectangle 32"/>
          <p:cNvSpPr/>
          <p:nvPr/>
        </p:nvSpPr>
        <p:spPr>
          <a:xfrm>
            <a:off x="3291840" y="3794760"/>
            <a:ext cx="4114800" cy="640080"/>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3840480"/>
            <a:ext cx="3931920" cy="548640"/>
          </a:xfrm>
          <a:prstGeom prst="rect">
            <a:avLst/>
          </a:prstGeom>
          <a:noFill/>
        </p:spPr>
        <p:txBody>
          <a:bodyPr wrap="square">
            <a:spAutoFit/>
          </a:bodyPr>
          <a:lstStyle/>
          <a:p>
            <a:pPr algn="l"/>
            <a:r>
              <a:rPr sz="1300" b="0" i="0">
                <a:solidFill>
                  <a:srgbClr val="14F195"/>
                </a:solidFill>
                <a:latin typeface="Arial"/>
              </a:rPr>
              <a:t>Native CPI — any program reads reputation</a:t>
            </a:r>
          </a:p>
        </p:txBody>
      </p:sp>
      <p:sp>
        <p:nvSpPr>
          <p:cNvPr id="35" name="Rectangle 34"/>
          <p:cNvSpPr/>
          <p:nvPr/>
        </p:nvSpPr>
        <p:spPr>
          <a:xfrm>
            <a:off x="7406640" y="3794760"/>
            <a:ext cx="41148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0" y="3840480"/>
            <a:ext cx="3931920" cy="548640"/>
          </a:xfrm>
          <a:prstGeom prst="rect">
            <a:avLst/>
          </a:prstGeom>
          <a:noFill/>
        </p:spPr>
        <p:txBody>
          <a:bodyPr wrap="square">
            <a:spAutoFit/>
          </a:bodyPr>
          <a:lstStyle/>
          <a:p>
            <a:pPr algn="l"/>
            <a:r>
              <a:rPr sz="1300" b="0" i="0">
                <a:solidFill>
                  <a:srgbClr val="8B949E"/>
                </a:solidFill>
                <a:latin typeface="Arial"/>
              </a:rPr>
              <a:t>Bridge required for non-EVM agents</a:t>
            </a:r>
          </a:p>
        </p:txBody>
      </p:sp>
      <p:sp>
        <p:nvSpPr>
          <p:cNvPr id="37" name="Rectangle 36"/>
          <p:cNvSpPr/>
          <p:nvPr/>
        </p:nvSpPr>
        <p:spPr>
          <a:xfrm>
            <a:off x="548640" y="4434840"/>
            <a:ext cx="27432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480560"/>
            <a:ext cx="2560320" cy="548640"/>
          </a:xfrm>
          <a:prstGeom prst="rect">
            <a:avLst/>
          </a:prstGeom>
          <a:noFill/>
        </p:spPr>
        <p:txBody>
          <a:bodyPr wrap="square">
            <a:spAutoFit/>
          </a:bodyPr>
          <a:lstStyle/>
          <a:p>
            <a:pPr algn="l"/>
            <a:r>
              <a:rPr sz="1300" b="1" i="0">
                <a:solidFill>
                  <a:srgbClr val="FFFFFF"/>
                </a:solidFill>
                <a:latin typeface="Arial"/>
              </a:rPr>
              <a:t>AI agent focus</a:t>
            </a:r>
          </a:p>
        </p:txBody>
      </p:sp>
      <p:sp>
        <p:nvSpPr>
          <p:cNvPr id="39" name="Rectangle 38"/>
          <p:cNvSpPr/>
          <p:nvPr/>
        </p:nvSpPr>
        <p:spPr>
          <a:xfrm>
            <a:off x="3291840" y="4434840"/>
            <a:ext cx="4114800" cy="640080"/>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83280" y="4480560"/>
            <a:ext cx="3931920" cy="548640"/>
          </a:xfrm>
          <a:prstGeom prst="rect">
            <a:avLst/>
          </a:prstGeom>
          <a:noFill/>
        </p:spPr>
        <p:txBody>
          <a:bodyPr wrap="square">
            <a:spAutoFit/>
          </a:bodyPr>
          <a:lstStyle/>
          <a:p>
            <a:pPr algn="l"/>
            <a:r>
              <a:rPr sz="1300" b="0" i="0">
                <a:solidFill>
                  <a:srgbClr val="14F195"/>
                </a:solidFill>
                <a:latin typeface="Arial"/>
              </a:rPr>
              <a:t>Built for agent commerce</a:t>
            </a:r>
          </a:p>
        </p:txBody>
      </p:sp>
      <p:sp>
        <p:nvSpPr>
          <p:cNvPr id="41" name="Rectangle 40"/>
          <p:cNvSpPr/>
          <p:nvPr/>
        </p:nvSpPr>
        <p:spPr>
          <a:xfrm>
            <a:off x="7406640" y="4434840"/>
            <a:ext cx="4114800" cy="640080"/>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0" y="4480560"/>
            <a:ext cx="3931920" cy="548640"/>
          </a:xfrm>
          <a:prstGeom prst="rect">
            <a:avLst/>
          </a:prstGeom>
          <a:noFill/>
        </p:spPr>
        <p:txBody>
          <a:bodyPr wrap="square">
            <a:spAutoFit/>
          </a:bodyPr>
          <a:lstStyle/>
          <a:p>
            <a:pPr algn="l"/>
            <a:r>
              <a:rPr sz="1300" b="0" i="0">
                <a:solidFill>
                  <a:srgbClr val="8B949E"/>
                </a:solidFill>
                <a:latin typeface="Arial"/>
              </a:rPr>
              <a:t>General purpose</a:t>
            </a:r>
          </a:p>
        </p:txBody>
      </p:sp>
      <p:sp>
        <p:nvSpPr>
          <p:cNvPr id="43" name="Rectangle 42"/>
          <p:cNvSpPr/>
          <p:nvPr/>
        </p:nvSpPr>
        <p:spPr>
          <a:xfrm>
            <a:off x="548640" y="5349240"/>
            <a:ext cx="3474720" cy="77724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5376672"/>
            <a:ext cx="3291840" cy="365760"/>
          </a:xfrm>
          <a:prstGeom prst="rect">
            <a:avLst/>
          </a:prstGeom>
          <a:noFill/>
        </p:spPr>
        <p:txBody>
          <a:bodyPr wrap="square">
            <a:spAutoFit/>
          </a:bodyPr>
          <a:lstStyle/>
          <a:p>
            <a:pPr algn="ctr"/>
            <a:r>
              <a:rPr sz="2200" b="1" i="0">
                <a:solidFill>
                  <a:srgbClr val="14F195"/>
                </a:solidFill>
                <a:latin typeface="Arial"/>
              </a:rPr>
              <a:t>~400ms</a:t>
            </a:r>
          </a:p>
        </p:txBody>
      </p:sp>
      <p:sp>
        <p:nvSpPr>
          <p:cNvPr id="45" name="TextBox 44"/>
          <p:cNvSpPr txBox="1"/>
          <p:nvPr/>
        </p:nvSpPr>
        <p:spPr>
          <a:xfrm>
            <a:off x="640080" y="5715000"/>
            <a:ext cx="3291840" cy="320040"/>
          </a:xfrm>
          <a:prstGeom prst="rect">
            <a:avLst/>
          </a:prstGeom>
          <a:noFill/>
        </p:spPr>
        <p:txBody>
          <a:bodyPr wrap="square">
            <a:spAutoFit/>
          </a:bodyPr>
          <a:lstStyle/>
          <a:p>
            <a:pPr algn="ctr"/>
            <a:r>
              <a:rPr sz="1300" b="0" i="0">
                <a:solidFill>
                  <a:srgbClr val="8B949E"/>
                </a:solidFill>
                <a:latin typeface="Arial"/>
              </a:rPr>
              <a:t>finality</a:t>
            </a:r>
          </a:p>
        </p:txBody>
      </p:sp>
      <p:sp>
        <p:nvSpPr>
          <p:cNvPr id="46" name="Rectangle 45"/>
          <p:cNvSpPr/>
          <p:nvPr/>
        </p:nvSpPr>
        <p:spPr>
          <a:xfrm>
            <a:off x="4297679" y="5349240"/>
            <a:ext cx="3474720" cy="77724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89119" y="5376672"/>
            <a:ext cx="3291840" cy="365760"/>
          </a:xfrm>
          <a:prstGeom prst="rect">
            <a:avLst/>
          </a:prstGeom>
          <a:noFill/>
        </p:spPr>
        <p:txBody>
          <a:bodyPr wrap="square">
            <a:spAutoFit/>
          </a:bodyPr>
          <a:lstStyle/>
          <a:p>
            <a:pPr algn="ctr"/>
            <a:r>
              <a:rPr sz="2200" b="1" i="0">
                <a:solidFill>
                  <a:srgbClr val="14F195"/>
                </a:solidFill>
                <a:latin typeface="Arial"/>
              </a:rPr>
              <a:t>&lt;$0.001</a:t>
            </a:r>
          </a:p>
        </p:txBody>
      </p:sp>
      <p:sp>
        <p:nvSpPr>
          <p:cNvPr id="48" name="TextBox 47"/>
          <p:cNvSpPr txBox="1"/>
          <p:nvPr/>
        </p:nvSpPr>
        <p:spPr>
          <a:xfrm>
            <a:off x="4389119" y="5715000"/>
            <a:ext cx="3291840" cy="320040"/>
          </a:xfrm>
          <a:prstGeom prst="rect">
            <a:avLst/>
          </a:prstGeom>
          <a:noFill/>
        </p:spPr>
        <p:txBody>
          <a:bodyPr wrap="square">
            <a:spAutoFit/>
          </a:bodyPr>
          <a:lstStyle/>
          <a:p>
            <a:pPr algn="ctr"/>
            <a:r>
              <a:rPr sz="1300" b="0" i="0">
                <a:solidFill>
                  <a:srgbClr val="8B949E"/>
                </a:solidFill>
                <a:latin typeface="Arial"/>
              </a:rPr>
              <a:t>per operation</a:t>
            </a:r>
          </a:p>
        </p:txBody>
      </p:sp>
      <p:sp>
        <p:nvSpPr>
          <p:cNvPr id="49" name="Rectangle 48"/>
          <p:cNvSpPr/>
          <p:nvPr/>
        </p:nvSpPr>
        <p:spPr>
          <a:xfrm>
            <a:off x="8046718" y="5349240"/>
            <a:ext cx="3474720" cy="77724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138158" y="5376672"/>
            <a:ext cx="3291840" cy="365760"/>
          </a:xfrm>
          <a:prstGeom prst="rect">
            <a:avLst/>
          </a:prstGeom>
          <a:noFill/>
        </p:spPr>
        <p:txBody>
          <a:bodyPr wrap="square">
            <a:spAutoFit/>
          </a:bodyPr>
          <a:lstStyle/>
          <a:p>
            <a:pPr algn="ctr"/>
            <a:r>
              <a:rPr sz="2200" b="1" i="0">
                <a:solidFill>
                  <a:srgbClr val="14F195"/>
                </a:solidFill>
                <a:latin typeface="Arial"/>
              </a:rPr>
              <a:t>Native secp256r1</a:t>
            </a:r>
          </a:p>
        </p:txBody>
      </p:sp>
      <p:sp>
        <p:nvSpPr>
          <p:cNvPr id="51" name="TextBox 50"/>
          <p:cNvSpPr txBox="1"/>
          <p:nvPr/>
        </p:nvSpPr>
        <p:spPr>
          <a:xfrm>
            <a:off x="8138158" y="5715000"/>
            <a:ext cx="3291840" cy="320040"/>
          </a:xfrm>
          <a:prstGeom prst="rect">
            <a:avLst/>
          </a:prstGeom>
          <a:noFill/>
        </p:spPr>
        <p:txBody>
          <a:bodyPr wrap="square">
            <a:spAutoFit/>
          </a:bodyPr>
          <a:lstStyle/>
          <a:p>
            <a:pPr algn="ctr"/>
            <a:r>
              <a:rPr sz="1300" b="0" i="0">
                <a:solidFill>
                  <a:srgbClr val="8B949E"/>
                </a:solidFill>
                <a:latin typeface="Arial"/>
              </a:rPr>
              <a:t>precompile (SIMD-48)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9  Live Demo</a:t>
            </a:r>
          </a:p>
        </p:txBody>
      </p:sp>
      <p:sp>
        <p:nvSpPr>
          <p:cNvPr id="5" name="TextBox 4"/>
          <p:cNvSpPr txBox="1"/>
          <p:nvPr/>
        </p:nvSpPr>
        <p:spPr>
          <a:xfrm>
            <a:off x="548640" y="365760"/>
            <a:ext cx="10972800" cy="685800"/>
          </a:xfrm>
          <a:prstGeom prst="rect">
            <a:avLst/>
          </a:prstGeom>
          <a:noFill/>
        </p:spPr>
        <p:txBody>
          <a:bodyPr wrap="square">
            <a:spAutoFit/>
          </a:bodyPr>
          <a:lstStyle/>
          <a:p>
            <a:pPr algn="l"/>
            <a:r>
              <a:rPr sz="4000" b="1" i="0">
                <a:solidFill>
                  <a:srgbClr val="FFFFFF"/>
                </a:solidFill>
                <a:latin typeface="Arial"/>
              </a:rPr>
              <a:t>Live Devnet Demo</a:t>
            </a:r>
          </a:p>
        </p:txBody>
      </p:sp>
      <p:sp>
        <p:nvSpPr>
          <p:cNvPr id="6" name="Rectangle 5"/>
          <p:cNvSpPr/>
          <p:nvPr/>
        </p:nvSpPr>
        <p:spPr>
          <a:xfrm>
            <a:off x="457200" y="109728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280160"/>
            <a:ext cx="7772400" cy="128016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280160"/>
            <a:ext cx="64008" cy="128016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71600"/>
            <a:ext cx="1828800" cy="320040"/>
          </a:xfrm>
          <a:prstGeom prst="rect">
            <a:avLst/>
          </a:prstGeom>
          <a:noFill/>
        </p:spPr>
        <p:txBody>
          <a:bodyPr wrap="square">
            <a:spAutoFit/>
          </a:bodyPr>
          <a:lstStyle/>
          <a:p>
            <a:pPr algn="l"/>
            <a:r>
              <a:rPr sz="1200" b="1" i="0">
                <a:solidFill>
                  <a:srgbClr val="14F195"/>
                </a:solidFill>
                <a:latin typeface="Arial"/>
              </a:rPr>
              <a:t>Stage 1</a:t>
            </a:r>
          </a:p>
        </p:txBody>
      </p:sp>
      <p:sp>
        <p:nvSpPr>
          <p:cNvPr id="10" name="TextBox 9"/>
          <p:cNvSpPr txBox="1"/>
          <p:nvPr/>
        </p:nvSpPr>
        <p:spPr>
          <a:xfrm>
            <a:off x="777240" y="1645920"/>
            <a:ext cx="7315200" cy="365760"/>
          </a:xfrm>
          <a:prstGeom prst="rect">
            <a:avLst/>
          </a:prstGeom>
          <a:noFill/>
        </p:spPr>
        <p:txBody>
          <a:bodyPr wrap="square">
            <a:spAutoFit/>
          </a:bodyPr>
          <a:lstStyle/>
          <a:p>
            <a:pPr algn="l"/>
            <a:r>
              <a:rPr sz="1800" b="1" i="0">
                <a:solidFill>
                  <a:srgbClr val="FFFFFF"/>
                </a:solidFill>
                <a:latin typeface="Arial"/>
              </a:rPr>
              <a:t>Register agent wallet</a:t>
            </a:r>
          </a:p>
        </p:txBody>
      </p:sp>
      <p:sp>
        <p:nvSpPr>
          <p:cNvPr id="11" name="TextBox 10"/>
          <p:cNvSpPr txBox="1"/>
          <p:nvPr/>
        </p:nvSpPr>
        <p:spPr>
          <a:xfrm>
            <a:off x="777240" y="1993392"/>
            <a:ext cx="7315200" cy="457200"/>
          </a:xfrm>
          <a:prstGeom prst="rect">
            <a:avLst/>
          </a:prstGeom>
          <a:noFill/>
        </p:spPr>
        <p:txBody>
          <a:bodyPr wrap="square">
            <a:spAutoFit/>
          </a:bodyPr>
          <a:lstStyle/>
          <a:p>
            <a:pPr algn="l"/>
            <a:r>
              <a:rPr sz="1300" b="0" i="0">
                <a:solidFill>
                  <a:srgbClr val="8B949E"/>
                </a:solidFill>
                <a:latin typeface="Arial"/>
              </a:rPr>
              <a:t>Generate secp256r1 keypair →
registerAgentWallet tx confirmed on Solana devnet</a:t>
            </a:r>
          </a:p>
        </p:txBody>
      </p:sp>
      <p:sp>
        <p:nvSpPr>
          <p:cNvPr id="12" name="Rectangle 11"/>
          <p:cNvSpPr/>
          <p:nvPr/>
        </p:nvSpPr>
        <p:spPr>
          <a:xfrm>
            <a:off x="548640" y="2697480"/>
            <a:ext cx="7772400" cy="1280160"/>
          </a:xfrm>
          <a:prstGeom prst="rect">
            <a:avLst/>
          </a:prstGeom>
          <a:solidFill>
            <a:srgbClr val="161B22"/>
          </a:solidFill>
          <a:ln w="1905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97480"/>
            <a:ext cx="64008" cy="1280160"/>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88920"/>
            <a:ext cx="1828800" cy="320040"/>
          </a:xfrm>
          <a:prstGeom prst="rect">
            <a:avLst/>
          </a:prstGeom>
          <a:noFill/>
        </p:spPr>
        <p:txBody>
          <a:bodyPr wrap="square">
            <a:spAutoFit/>
          </a:bodyPr>
          <a:lstStyle/>
          <a:p>
            <a:pPr algn="l"/>
            <a:r>
              <a:rPr sz="1200" b="1" i="0">
                <a:solidFill>
                  <a:srgbClr val="9945FF"/>
                </a:solidFill>
                <a:latin typeface="Arial"/>
              </a:rPr>
              <a:t>Stage 2</a:t>
            </a:r>
          </a:p>
        </p:txBody>
      </p:sp>
      <p:sp>
        <p:nvSpPr>
          <p:cNvPr id="15" name="TextBox 14"/>
          <p:cNvSpPr txBox="1"/>
          <p:nvPr/>
        </p:nvSpPr>
        <p:spPr>
          <a:xfrm>
            <a:off x="777240" y="3063240"/>
            <a:ext cx="7315200" cy="365760"/>
          </a:xfrm>
          <a:prstGeom prst="rect">
            <a:avLst/>
          </a:prstGeom>
          <a:noFill/>
        </p:spPr>
        <p:txBody>
          <a:bodyPr wrap="square">
            <a:spAutoFit/>
          </a:bodyPr>
          <a:lstStyle/>
          <a:p>
            <a:pPr algn="l"/>
            <a:r>
              <a:rPr sz="1800" b="1" i="0">
                <a:solidFill>
                  <a:srgbClr val="FFFFFF"/>
                </a:solidFill>
                <a:latin typeface="Arial"/>
              </a:rPr>
              <a:t>Oracle reputation update</a:t>
            </a:r>
          </a:p>
        </p:txBody>
      </p:sp>
      <p:sp>
        <p:nvSpPr>
          <p:cNvPr id="16" name="TextBox 15"/>
          <p:cNvSpPr txBox="1"/>
          <p:nvPr/>
        </p:nvSpPr>
        <p:spPr>
          <a:xfrm>
            <a:off x="777240" y="3410712"/>
            <a:ext cx="7315200" cy="457200"/>
          </a:xfrm>
          <a:prstGeom prst="rect">
            <a:avLst/>
          </a:prstGeom>
          <a:noFill/>
        </p:spPr>
        <p:txBody>
          <a:bodyPr wrap="square">
            <a:spAutoFit/>
          </a:bodyPr>
          <a:lstStyle/>
          <a:p>
            <a:pPr algn="l"/>
            <a:r>
              <a:rPr sz="1300" b="0" i="0">
                <a:solidFill>
                  <a:srgbClr val="8B949E"/>
                </a:solidFill>
                <a:latin typeface="Arial"/>
              </a:rPr>
              <a:t>initReputation (score: 5000 bp, neutral) →
updateReputation +200bp → Score: 5200/10000 on-chain</a:t>
            </a:r>
          </a:p>
        </p:txBody>
      </p:sp>
      <p:sp>
        <p:nvSpPr>
          <p:cNvPr id="17" name="Rectangle 16"/>
          <p:cNvSpPr/>
          <p:nvPr/>
        </p:nvSpPr>
        <p:spPr>
          <a:xfrm>
            <a:off x="548640" y="4114800"/>
            <a:ext cx="7772400" cy="1280160"/>
          </a:xfrm>
          <a:prstGeom prst="rect">
            <a:avLst/>
          </a:prstGeom>
          <a:solidFill>
            <a:srgbClr val="161B22"/>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14800"/>
            <a:ext cx="64008"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6240"/>
            <a:ext cx="1828800" cy="320040"/>
          </a:xfrm>
          <a:prstGeom prst="rect">
            <a:avLst/>
          </a:prstGeom>
          <a:noFill/>
        </p:spPr>
        <p:txBody>
          <a:bodyPr wrap="square">
            <a:spAutoFit/>
          </a:bodyPr>
          <a:lstStyle/>
          <a:p>
            <a:pPr algn="l"/>
            <a:r>
              <a:rPr sz="1200" b="1" i="0">
                <a:solidFill>
                  <a:srgbClr val="FFA500"/>
                </a:solidFill>
                <a:latin typeface="Arial"/>
              </a:rPr>
              <a:t>Stage 3</a:t>
            </a:r>
          </a:p>
        </p:txBody>
      </p:sp>
      <p:sp>
        <p:nvSpPr>
          <p:cNvPr id="20" name="TextBox 19"/>
          <p:cNvSpPr txBox="1"/>
          <p:nvPr/>
        </p:nvSpPr>
        <p:spPr>
          <a:xfrm>
            <a:off x="777240" y="4480560"/>
            <a:ext cx="7315200" cy="365760"/>
          </a:xfrm>
          <a:prstGeom prst="rect">
            <a:avLst/>
          </a:prstGeom>
          <a:noFill/>
        </p:spPr>
        <p:txBody>
          <a:bodyPr wrap="square">
            <a:spAutoFit/>
          </a:bodyPr>
          <a:lstStyle/>
          <a:p>
            <a:pPr algn="l"/>
            <a:r>
              <a:rPr sz="1800" b="1" i="0">
                <a:solidFill>
                  <a:srgbClr val="FFFFFF"/>
                </a:solidFill>
                <a:latin typeface="Arial"/>
              </a:rPr>
              <a:t>SDK attestation query</a:t>
            </a:r>
          </a:p>
        </p:txBody>
      </p:sp>
      <p:sp>
        <p:nvSpPr>
          <p:cNvPr id="21" name="TextBox 20"/>
          <p:cNvSpPr txBox="1"/>
          <p:nvPr/>
        </p:nvSpPr>
        <p:spPr>
          <a:xfrm>
            <a:off x="777240" y="4828032"/>
            <a:ext cx="7315200" cy="457200"/>
          </a:xfrm>
          <a:prstGeom prst="rect">
            <a:avLst/>
          </a:prstGeom>
          <a:noFill/>
        </p:spPr>
        <p:txBody>
          <a:bodyPr wrap="square">
            <a:spAutoFit/>
          </a:bodyPr>
          <a:lstStyle/>
          <a:p>
            <a:pPr algn="l"/>
            <a:r>
              <a:rPr sz="1300" b="0" i="0">
                <a:solidFill>
                  <a:srgbClr val="8B949E"/>
                </a:solidFill>
                <a:latin typeface="Arial"/>
              </a:rPr>
              <a:t>client.reputation.get(agentPubkey) →
Clean attestation report: score, tier, history</a:t>
            </a:r>
          </a:p>
        </p:txBody>
      </p:sp>
      <p:sp>
        <p:nvSpPr>
          <p:cNvPr id="22" name="Rectangle 21"/>
          <p:cNvSpPr/>
          <p:nvPr/>
        </p:nvSpPr>
        <p:spPr>
          <a:xfrm>
            <a:off x="8595360" y="1234440"/>
            <a:ext cx="3200400" cy="365760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0" y="2011680"/>
            <a:ext cx="3200400" cy="914400"/>
          </a:xfrm>
          <a:prstGeom prst="rect">
            <a:avLst/>
          </a:prstGeom>
          <a:noFill/>
        </p:spPr>
        <p:txBody>
          <a:bodyPr wrap="square">
            <a:spAutoFit/>
          </a:bodyPr>
          <a:lstStyle/>
          <a:p>
            <a:pPr algn="ctr"/>
            <a:r>
              <a:rPr sz="5200" b="0" i="0">
                <a:solidFill>
                  <a:srgbClr val="14F195"/>
                </a:solidFill>
                <a:latin typeface="Arial"/>
              </a:rPr>
              <a:t>▶</a:t>
            </a:r>
          </a:p>
        </p:txBody>
      </p:sp>
      <p:sp>
        <p:nvSpPr>
          <p:cNvPr id="24" name="TextBox 23"/>
          <p:cNvSpPr txBox="1"/>
          <p:nvPr/>
        </p:nvSpPr>
        <p:spPr>
          <a:xfrm>
            <a:off x="8595360" y="2834640"/>
            <a:ext cx="3200400" cy="640080"/>
          </a:xfrm>
          <a:prstGeom prst="rect">
            <a:avLst/>
          </a:prstGeom>
          <a:noFill/>
        </p:spPr>
        <p:txBody>
          <a:bodyPr wrap="square">
            <a:spAutoFit/>
          </a:bodyPr>
          <a:lstStyle/>
          <a:p>
            <a:pPr algn="ctr"/>
            <a:r>
              <a:rPr sz="1600" b="1" i="0">
                <a:solidFill>
                  <a:srgbClr val="FFFFFF"/>
                </a:solidFill>
                <a:latin typeface="Arial"/>
              </a:rPr>
              <a:t>WATCH DEMO
4 min</a:t>
            </a:r>
          </a:p>
        </p:txBody>
      </p:sp>
      <p:sp>
        <p:nvSpPr>
          <p:cNvPr id="25" name="TextBox 24"/>
          <p:cNvSpPr txBox="1"/>
          <p:nvPr/>
        </p:nvSpPr>
        <p:spPr>
          <a:xfrm>
            <a:off x="8595360" y="3429000"/>
            <a:ext cx="3200400" cy="548640"/>
          </a:xfrm>
          <a:prstGeom prst="rect">
            <a:avLst/>
          </a:prstGeom>
          <a:noFill/>
        </p:spPr>
        <p:txBody>
          <a:bodyPr wrap="square">
            <a:spAutoFit/>
          </a:bodyPr>
          <a:lstStyle/>
          <a:p>
            <a:pPr algn="ctr"/>
            <a:r>
              <a:rPr sz="1100" b="0" i="0">
                <a:solidFill>
                  <a:srgbClr val="8B949E"/>
                </a:solidFill>
                <a:latin typeface="Arial"/>
              </a:rPr>
              <a:t>[ link to be added
by Video Editor — Apr 28 ]</a:t>
            </a:r>
          </a:p>
        </p:txBody>
      </p:sp>
      <p:sp>
        <p:nvSpPr>
          <p:cNvPr id="26" name="Rectangle 25"/>
          <p:cNvSpPr/>
          <p:nvPr/>
        </p:nvSpPr>
        <p:spPr>
          <a:xfrm>
            <a:off x="548640" y="5715000"/>
            <a:ext cx="11247120" cy="411480"/>
          </a:xfrm>
          <a:prstGeom prst="rect">
            <a:avLst/>
          </a:prstGeom>
          <a:solidFill>
            <a:srgbClr val="2A1610"/>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769864"/>
            <a:ext cx="10972800" cy="320040"/>
          </a:xfrm>
          <a:prstGeom prst="rect">
            <a:avLst/>
          </a:prstGeom>
          <a:noFill/>
        </p:spPr>
        <p:txBody>
          <a:bodyPr wrap="square">
            <a:spAutoFit/>
          </a:bodyPr>
          <a:lstStyle/>
          <a:p>
            <a:pPr algn="ctr"/>
            <a:r>
              <a:rPr sz="1200" b="0" i="0">
                <a:solidFill>
                  <a:srgbClr val="FF6B6B"/>
                </a:solidFill>
                <a:latin typeface="Arial"/>
              </a:rPr>
              <a:t>⚠  Pre-audit software. Deployed on Solana devnet. Not for mainnet or production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10  Current State</a:t>
            </a:r>
          </a:p>
        </p:txBody>
      </p:sp>
      <p:sp>
        <p:nvSpPr>
          <p:cNvPr id="5" name="TextBox 4"/>
          <p:cNvSpPr txBox="1"/>
          <p:nvPr/>
        </p:nvSpPr>
        <p:spPr>
          <a:xfrm>
            <a:off x="548640" y="365760"/>
            <a:ext cx="10972800" cy="685800"/>
          </a:xfrm>
          <a:prstGeom prst="rect">
            <a:avLst/>
          </a:prstGeom>
          <a:noFill/>
        </p:spPr>
        <p:txBody>
          <a:bodyPr wrap="square">
            <a:spAutoFit/>
          </a:bodyPr>
          <a:lstStyle/>
          <a:p>
            <a:pPr algn="l"/>
            <a:r>
              <a:rPr sz="4000" b="1" i="0">
                <a:solidFill>
                  <a:srgbClr val="FFFFFF"/>
                </a:solidFill>
                <a:latin typeface="Arial"/>
              </a:rPr>
              <a:t>What's live today</a:t>
            </a:r>
          </a:p>
        </p:txBody>
      </p:sp>
      <p:sp>
        <p:nvSpPr>
          <p:cNvPr id="6" name="TextBox 5"/>
          <p:cNvSpPr txBox="1"/>
          <p:nvPr/>
        </p:nvSpPr>
        <p:spPr>
          <a:xfrm>
            <a:off x="548640" y="1005840"/>
            <a:ext cx="9144000" cy="411480"/>
          </a:xfrm>
          <a:prstGeom prst="rect">
            <a:avLst/>
          </a:prstGeom>
          <a:noFill/>
        </p:spPr>
        <p:txBody>
          <a:bodyPr wrap="square">
            <a:spAutoFit/>
          </a:bodyPr>
          <a:lstStyle/>
          <a:p>
            <a:pPr algn="l"/>
            <a:r>
              <a:rPr sz="1800" b="0" i="0">
                <a:solidFill>
                  <a:srgbClr val="8B949E"/>
                </a:solidFill>
                <a:latin typeface="Arial"/>
              </a:rPr>
              <a:t>No overclaiming. Here's exactly where we are.</a:t>
            </a:r>
          </a:p>
        </p:txBody>
      </p:sp>
      <p:sp>
        <p:nvSpPr>
          <p:cNvPr id="7" name="Rectangle 6"/>
          <p:cNvSpPr/>
          <p:nvPr/>
        </p:nvSpPr>
        <p:spPr>
          <a:xfrm>
            <a:off x="457200" y="150876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45920"/>
            <a:ext cx="8686800" cy="365760"/>
          </a:xfrm>
          <a:prstGeom prst="rect">
            <a:avLst/>
          </a:prstGeom>
          <a:noFill/>
        </p:spPr>
        <p:txBody>
          <a:bodyPr wrap="square">
            <a:spAutoFit/>
          </a:bodyPr>
          <a:lstStyle/>
          <a:p>
            <a:pPr algn="l"/>
            <a:r>
              <a:rPr sz="1600" b="0" i="0">
                <a:solidFill>
                  <a:srgbClr val="FFFFFF"/>
                </a:solidFill>
                <a:latin typeface="Arial"/>
              </a:rPr>
              <a:t>  ✅  Reputation read/write on devnet</a:t>
            </a:r>
          </a:p>
        </p:txBody>
      </p:sp>
      <p:sp>
        <p:nvSpPr>
          <p:cNvPr id="9" name="TextBox 8"/>
          <p:cNvSpPr txBox="1"/>
          <p:nvPr/>
        </p:nvSpPr>
        <p:spPr>
          <a:xfrm>
            <a:off x="548640" y="2066544"/>
            <a:ext cx="8686800" cy="365760"/>
          </a:xfrm>
          <a:prstGeom prst="rect">
            <a:avLst/>
          </a:prstGeom>
          <a:noFill/>
        </p:spPr>
        <p:txBody>
          <a:bodyPr wrap="square">
            <a:spAutoFit/>
          </a:bodyPr>
          <a:lstStyle/>
          <a:p>
            <a:pPr algn="l"/>
            <a:r>
              <a:rPr sz="1600" b="0" i="0">
                <a:solidFill>
                  <a:srgbClr val="FFFFFF"/>
                </a:solidFill>
                <a:latin typeface="Arial"/>
              </a:rPr>
              <a:t>  ✅  Escrow create / fund / release on devnet</a:t>
            </a:r>
          </a:p>
        </p:txBody>
      </p:sp>
      <p:sp>
        <p:nvSpPr>
          <p:cNvPr id="10" name="TextBox 9"/>
          <p:cNvSpPr txBox="1"/>
          <p:nvPr/>
        </p:nvSpPr>
        <p:spPr>
          <a:xfrm>
            <a:off x="548640" y="2487168"/>
            <a:ext cx="8686800" cy="365760"/>
          </a:xfrm>
          <a:prstGeom prst="rect">
            <a:avLst/>
          </a:prstGeom>
          <a:noFill/>
        </p:spPr>
        <p:txBody>
          <a:bodyPr wrap="square">
            <a:spAutoFit/>
          </a:bodyPr>
          <a:lstStyle/>
          <a:p>
            <a:pPr algn="l"/>
            <a:r>
              <a:rPr sz="1600" b="0" i="0">
                <a:solidFill>
                  <a:srgbClr val="FFFFFF"/>
                </a:solidFill>
                <a:latin typeface="Arial"/>
              </a:rPr>
              <a:t>  ✅  secp256r1 self-attestation (localnet; devnet pending cluster upgrade)</a:t>
            </a:r>
          </a:p>
        </p:txBody>
      </p:sp>
      <p:sp>
        <p:nvSpPr>
          <p:cNvPr id="11" name="TextBox 10"/>
          <p:cNvSpPr txBox="1"/>
          <p:nvPr/>
        </p:nvSpPr>
        <p:spPr>
          <a:xfrm>
            <a:off x="548640" y="2907792"/>
            <a:ext cx="8686800" cy="365760"/>
          </a:xfrm>
          <a:prstGeom prst="rect">
            <a:avLst/>
          </a:prstGeom>
          <a:noFill/>
        </p:spPr>
        <p:txBody>
          <a:bodyPr wrap="square">
            <a:spAutoFit/>
          </a:bodyPr>
          <a:lstStyle/>
          <a:p>
            <a:pPr algn="l"/>
            <a:r>
              <a:rPr sz="1600" b="0" i="0">
                <a:solidFill>
                  <a:srgbClr val="FFFFFF"/>
                </a:solidFill>
                <a:latin typeface="Arial"/>
              </a:rPr>
              <a:t>  ✅  @holdfastprotocol/sdk@0.1.0-devnet.1 published to npm</a:t>
            </a:r>
          </a:p>
        </p:txBody>
      </p:sp>
      <p:sp>
        <p:nvSpPr>
          <p:cNvPr id="12" name="TextBox 11"/>
          <p:cNvSpPr txBox="1"/>
          <p:nvPr/>
        </p:nvSpPr>
        <p:spPr>
          <a:xfrm>
            <a:off x="548640" y="3328416"/>
            <a:ext cx="8686800" cy="365760"/>
          </a:xfrm>
          <a:prstGeom prst="rect">
            <a:avLst/>
          </a:prstGeom>
          <a:noFill/>
        </p:spPr>
        <p:txBody>
          <a:bodyPr wrap="square">
            <a:spAutoFit/>
          </a:bodyPr>
          <a:lstStyle/>
          <a:p>
            <a:pPr algn="l"/>
            <a:r>
              <a:rPr sz="1600" b="0" i="0">
                <a:solidFill>
                  <a:srgbClr val="FFFFFF"/>
                </a:solidFill>
                <a:latin typeface="Arial"/>
              </a:rPr>
              <a:t>  ✅  Operator dashboard (devnet) — reputation, escrow, custody views</a:t>
            </a:r>
          </a:p>
        </p:txBody>
      </p:sp>
      <p:sp>
        <p:nvSpPr>
          <p:cNvPr id="13" name="TextBox 12"/>
          <p:cNvSpPr txBox="1"/>
          <p:nvPr/>
        </p:nvSpPr>
        <p:spPr>
          <a:xfrm>
            <a:off x="548640" y="3749040"/>
            <a:ext cx="8686800" cy="365760"/>
          </a:xfrm>
          <a:prstGeom prst="rect">
            <a:avLst/>
          </a:prstGeom>
          <a:noFill/>
        </p:spPr>
        <p:txBody>
          <a:bodyPr wrap="square">
            <a:spAutoFit/>
          </a:bodyPr>
          <a:lstStyle/>
          <a:p>
            <a:pPr algn="l"/>
            <a:r>
              <a:rPr sz="1600" b="0" i="0">
                <a:solidFill>
                  <a:srgbClr val="FFFFFF"/>
                </a:solidFill>
                <a:latin typeface="Arial"/>
              </a:rPr>
              <a:t>  ✅  Off-chain indexer deployed (indexer.devnet.holdfastprotocol.com)</a:t>
            </a:r>
          </a:p>
        </p:txBody>
      </p:sp>
      <p:sp>
        <p:nvSpPr>
          <p:cNvPr id="14" name="TextBox 13"/>
          <p:cNvSpPr txBox="1"/>
          <p:nvPr/>
        </p:nvSpPr>
        <p:spPr>
          <a:xfrm>
            <a:off x="548640" y="4261104"/>
            <a:ext cx="8686800" cy="365760"/>
          </a:xfrm>
          <a:prstGeom prst="rect">
            <a:avLst/>
          </a:prstGeom>
          <a:noFill/>
        </p:spPr>
        <p:txBody>
          <a:bodyPr wrap="square">
            <a:spAutoFit/>
          </a:bodyPr>
          <a:lstStyle/>
          <a:p>
            <a:pPr algn="l"/>
            <a:r>
              <a:rPr sz="1600" b="0" i="0">
                <a:solidFill>
                  <a:srgbClr val="8B949E"/>
                </a:solidFill>
                <a:latin typeface="Arial"/>
              </a:rPr>
              <a:t>  🔜  Hardware TPM / TEE attestation (Hardline cross-CPI) — Q4 2026</a:t>
            </a:r>
          </a:p>
        </p:txBody>
      </p:sp>
      <p:sp>
        <p:nvSpPr>
          <p:cNvPr id="15" name="TextBox 14"/>
          <p:cNvSpPr txBox="1"/>
          <p:nvPr/>
        </p:nvSpPr>
        <p:spPr>
          <a:xfrm>
            <a:off x="548640" y="4681728"/>
            <a:ext cx="8686800" cy="365760"/>
          </a:xfrm>
          <a:prstGeom prst="rect">
            <a:avLst/>
          </a:prstGeom>
          <a:noFill/>
        </p:spPr>
        <p:txBody>
          <a:bodyPr wrap="square">
            <a:spAutoFit/>
          </a:bodyPr>
          <a:lstStyle/>
          <a:p>
            <a:pPr algn="l"/>
            <a:r>
              <a:rPr sz="1600" b="0" i="0">
                <a:solidFill>
                  <a:srgbClr val="8B949E"/>
                </a:solidFill>
                <a:latin typeface="Arial"/>
              </a:rPr>
              <a:t>  🔜  Mainnet deployment — after external security audit (in progress)</a:t>
            </a:r>
          </a:p>
        </p:txBody>
      </p:sp>
      <p:sp>
        <p:nvSpPr>
          <p:cNvPr id="16" name="TextBox 15"/>
          <p:cNvSpPr txBox="1"/>
          <p:nvPr/>
        </p:nvSpPr>
        <p:spPr>
          <a:xfrm>
            <a:off x="548640" y="5102352"/>
            <a:ext cx="8686800" cy="365760"/>
          </a:xfrm>
          <a:prstGeom prst="rect">
            <a:avLst/>
          </a:prstGeom>
          <a:noFill/>
        </p:spPr>
        <p:txBody>
          <a:bodyPr wrap="square">
            <a:spAutoFit/>
          </a:bodyPr>
          <a:lstStyle/>
          <a:p>
            <a:pPr algn="l"/>
            <a:r>
              <a:rPr sz="1600" b="0" i="0">
                <a:solidFill>
                  <a:srgbClr val="8B949E"/>
                </a:solidFill>
                <a:latin typeface="Arial"/>
              </a:rPr>
              <a:t>  🔜  Protocol fees on production usage</a:t>
            </a:r>
          </a:p>
        </p:txBody>
      </p:sp>
      <p:sp>
        <p:nvSpPr>
          <p:cNvPr id="17" name="Rectangle 16"/>
          <p:cNvSpPr/>
          <p:nvPr/>
        </p:nvSpPr>
        <p:spPr>
          <a:xfrm>
            <a:off x="8961120" y="1645920"/>
            <a:ext cx="2834640" cy="228600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828800"/>
            <a:ext cx="2651760" cy="502920"/>
          </a:xfrm>
          <a:prstGeom prst="rect">
            <a:avLst/>
          </a:prstGeom>
          <a:noFill/>
        </p:spPr>
        <p:txBody>
          <a:bodyPr wrap="square">
            <a:spAutoFit/>
          </a:bodyPr>
          <a:lstStyle/>
          <a:p>
            <a:pPr algn="ctr"/>
            <a:r>
              <a:rPr sz="2600" b="1" i="0">
                <a:solidFill>
                  <a:srgbClr val="14F195"/>
                </a:solidFill>
                <a:latin typeface="Arial"/>
              </a:rPr>
              <a:t>No token.</a:t>
            </a:r>
          </a:p>
        </p:txBody>
      </p:sp>
      <p:sp>
        <p:nvSpPr>
          <p:cNvPr id="19" name="TextBox 18"/>
          <p:cNvSpPr txBox="1"/>
          <p:nvPr/>
        </p:nvSpPr>
        <p:spPr>
          <a:xfrm>
            <a:off x="9052560" y="2331720"/>
            <a:ext cx="2651760" cy="1371600"/>
          </a:xfrm>
          <a:prstGeom prst="rect">
            <a:avLst/>
          </a:prstGeom>
          <a:noFill/>
        </p:spPr>
        <p:txBody>
          <a:bodyPr wrap="square">
            <a:spAutoFit/>
          </a:bodyPr>
          <a:lstStyle/>
          <a:p>
            <a:pPr algn="ctr"/>
            <a:r>
              <a:rPr sz="1400" b="0" i="0">
                <a:solidFill>
                  <a:srgbClr val="FFFFFF"/>
                </a:solidFill>
                <a:latin typeface="Arial"/>
              </a:rPr>
              <a:t>Revenue: protocol fees
on real usage.
Registrations,
escrow settlements.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11  Differentiation</a:t>
            </a:r>
          </a:p>
        </p:txBody>
      </p:sp>
      <p:sp>
        <p:nvSpPr>
          <p:cNvPr id="5" name="TextBox 4"/>
          <p:cNvSpPr txBox="1"/>
          <p:nvPr/>
        </p:nvSpPr>
        <p:spPr>
          <a:xfrm>
            <a:off x="548640" y="365760"/>
            <a:ext cx="10972800" cy="685800"/>
          </a:xfrm>
          <a:prstGeom prst="rect">
            <a:avLst/>
          </a:prstGeom>
          <a:noFill/>
        </p:spPr>
        <p:txBody>
          <a:bodyPr wrap="square">
            <a:spAutoFit/>
          </a:bodyPr>
          <a:lstStyle/>
          <a:p>
            <a:pPr algn="l"/>
            <a:r>
              <a:rPr sz="4000" b="1" i="0">
                <a:solidFill>
                  <a:srgbClr val="FFFFFF"/>
                </a:solidFill>
                <a:latin typeface="Arial"/>
              </a:rPr>
              <a:t>How we're different</a:t>
            </a:r>
          </a:p>
        </p:txBody>
      </p:sp>
      <p:sp>
        <p:nvSpPr>
          <p:cNvPr id="6" name="Rectangle 5"/>
          <p:cNvSpPr/>
          <p:nvPr/>
        </p:nvSpPr>
        <p:spPr>
          <a:xfrm>
            <a:off x="457200" y="109728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88720"/>
            <a:ext cx="2560320" cy="576072"/>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25880"/>
            <a:ext cx="2468880" cy="393192"/>
          </a:xfrm>
          <a:prstGeom prst="rect">
            <a:avLst/>
          </a:prstGeom>
          <a:noFill/>
        </p:spPr>
        <p:txBody>
          <a:bodyPr wrap="square">
            <a:spAutoFit/>
          </a:bodyPr>
          <a:lstStyle/>
          <a:p>
            <a:pPr algn="ctr"/>
            <a:r>
              <a:rPr sz="1400" b="1" i="0">
                <a:solidFill>
                  <a:srgbClr val="FFFFFF"/>
                </a:solidFill>
                <a:latin typeface="Arial"/>
              </a:rPr>
              <a:t/>
            </a:r>
          </a:p>
        </p:txBody>
      </p:sp>
      <p:sp>
        <p:nvSpPr>
          <p:cNvPr id="9" name="Rectangle 8"/>
          <p:cNvSpPr/>
          <p:nvPr/>
        </p:nvSpPr>
        <p:spPr>
          <a:xfrm>
            <a:off x="2834640" y="1188720"/>
            <a:ext cx="2286000" cy="576072"/>
          </a:xfrm>
          <a:prstGeom prst="rect">
            <a:avLst/>
          </a:prstGeom>
          <a:solidFill>
            <a:srgbClr val="102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325880"/>
            <a:ext cx="2194560" cy="393192"/>
          </a:xfrm>
          <a:prstGeom prst="rect">
            <a:avLst/>
          </a:prstGeom>
          <a:noFill/>
        </p:spPr>
        <p:txBody>
          <a:bodyPr wrap="square">
            <a:spAutoFit/>
          </a:bodyPr>
          <a:lstStyle/>
          <a:p>
            <a:pPr algn="ctr"/>
            <a:r>
              <a:rPr sz="1400" b="1" i="0">
                <a:solidFill>
                  <a:srgbClr val="14F195"/>
                </a:solidFill>
                <a:latin typeface="Arial"/>
              </a:rPr>
              <a:t>Holdfast</a:t>
            </a:r>
          </a:p>
        </p:txBody>
      </p:sp>
      <p:sp>
        <p:nvSpPr>
          <p:cNvPr id="11" name="Rectangle 10"/>
          <p:cNvSpPr/>
          <p:nvPr/>
        </p:nvSpPr>
        <p:spPr>
          <a:xfrm>
            <a:off x="5120640" y="1188720"/>
            <a:ext cx="2103120" cy="576072"/>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1325880"/>
            <a:ext cx="2011680" cy="393192"/>
          </a:xfrm>
          <a:prstGeom prst="rect">
            <a:avLst/>
          </a:prstGeom>
          <a:noFill/>
        </p:spPr>
        <p:txBody>
          <a:bodyPr wrap="square">
            <a:spAutoFit/>
          </a:bodyPr>
          <a:lstStyle/>
          <a:p>
            <a:pPr algn="ctr"/>
            <a:r>
              <a:rPr sz="1400" b="1" i="0">
                <a:solidFill>
                  <a:srgbClr val="FFFFFF"/>
                </a:solidFill>
                <a:latin typeface="Arial"/>
              </a:rPr>
              <a:t>EAS / EVM</a:t>
            </a:r>
          </a:p>
        </p:txBody>
      </p:sp>
      <p:sp>
        <p:nvSpPr>
          <p:cNvPr id="13" name="Rectangle 12"/>
          <p:cNvSpPr/>
          <p:nvPr/>
        </p:nvSpPr>
        <p:spPr>
          <a:xfrm>
            <a:off x="7223760" y="1188720"/>
            <a:ext cx="2103120" cy="576072"/>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1325880"/>
            <a:ext cx="2011680" cy="393192"/>
          </a:xfrm>
          <a:prstGeom prst="rect">
            <a:avLst/>
          </a:prstGeom>
          <a:noFill/>
        </p:spPr>
        <p:txBody>
          <a:bodyPr wrap="square">
            <a:spAutoFit/>
          </a:bodyPr>
          <a:lstStyle/>
          <a:p>
            <a:pPr algn="ctr"/>
            <a:r>
              <a:rPr sz="1400" b="1" i="0">
                <a:solidFill>
                  <a:srgbClr val="FFFFFF"/>
                </a:solidFill>
                <a:latin typeface="Arial"/>
              </a:rPr>
              <a:t>Vouch</a:t>
            </a:r>
          </a:p>
        </p:txBody>
      </p:sp>
      <p:sp>
        <p:nvSpPr>
          <p:cNvPr id="15" name="Rectangle 14"/>
          <p:cNvSpPr/>
          <p:nvPr/>
        </p:nvSpPr>
        <p:spPr>
          <a:xfrm>
            <a:off x="9326880" y="1188720"/>
            <a:ext cx="2103120" cy="576072"/>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72600" y="1325880"/>
            <a:ext cx="2011680" cy="393192"/>
          </a:xfrm>
          <a:prstGeom prst="rect">
            <a:avLst/>
          </a:prstGeom>
          <a:noFill/>
        </p:spPr>
        <p:txBody>
          <a:bodyPr wrap="square">
            <a:spAutoFit/>
          </a:bodyPr>
          <a:lstStyle/>
          <a:p>
            <a:pPr algn="ctr"/>
            <a:r>
              <a:rPr sz="1400" b="1" i="0">
                <a:solidFill>
                  <a:srgbClr val="FFFFFF"/>
                </a:solidFill>
                <a:latin typeface="Arial"/>
              </a:rPr>
              <a:t>Warden</a:t>
            </a:r>
          </a:p>
        </p:txBody>
      </p:sp>
      <p:sp>
        <p:nvSpPr>
          <p:cNvPr id="17" name="Rectangle 16"/>
          <p:cNvSpPr/>
          <p:nvPr/>
        </p:nvSpPr>
        <p:spPr>
          <a:xfrm>
            <a:off x="274320" y="1764792"/>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1856232"/>
            <a:ext cx="2468880" cy="438912"/>
          </a:xfrm>
          <a:prstGeom prst="rect">
            <a:avLst/>
          </a:prstGeom>
          <a:noFill/>
        </p:spPr>
        <p:txBody>
          <a:bodyPr wrap="square">
            <a:spAutoFit/>
          </a:bodyPr>
          <a:lstStyle/>
          <a:p>
            <a:pPr algn="l"/>
            <a:r>
              <a:rPr sz="1300" b="1" i="0">
                <a:solidFill>
                  <a:srgbClr val="8B949E"/>
                </a:solidFill>
                <a:latin typeface="Arial"/>
              </a:rPr>
              <a:t>On-chain enforcement</a:t>
            </a:r>
          </a:p>
        </p:txBody>
      </p:sp>
      <p:sp>
        <p:nvSpPr>
          <p:cNvPr id="19" name="Rectangle 18"/>
          <p:cNvSpPr/>
          <p:nvPr/>
        </p:nvSpPr>
        <p:spPr>
          <a:xfrm>
            <a:off x="2834640" y="1764792"/>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80360" y="1856232"/>
            <a:ext cx="2194560" cy="438912"/>
          </a:xfrm>
          <a:prstGeom prst="rect">
            <a:avLst/>
          </a:prstGeom>
          <a:noFill/>
        </p:spPr>
        <p:txBody>
          <a:bodyPr wrap="square">
            <a:spAutoFit/>
          </a:bodyPr>
          <a:lstStyle/>
          <a:p>
            <a:pPr algn="ctr"/>
            <a:r>
              <a:rPr sz="1300" b="0" i="0">
                <a:solidFill>
                  <a:srgbClr val="14F195"/>
                </a:solidFill>
                <a:latin typeface="Arial"/>
              </a:rPr>
              <a:t>✅ Solana</a:t>
            </a:r>
          </a:p>
        </p:txBody>
      </p:sp>
      <p:sp>
        <p:nvSpPr>
          <p:cNvPr id="21" name="Rectangle 20"/>
          <p:cNvSpPr/>
          <p:nvPr/>
        </p:nvSpPr>
        <p:spPr>
          <a:xfrm>
            <a:off x="5120640" y="176479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66360" y="1856232"/>
            <a:ext cx="2011680" cy="438912"/>
          </a:xfrm>
          <a:prstGeom prst="rect">
            <a:avLst/>
          </a:prstGeom>
          <a:noFill/>
        </p:spPr>
        <p:txBody>
          <a:bodyPr wrap="square">
            <a:spAutoFit/>
          </a:bodyPr>
          <a:lstStyle/>
          <a:p>
            <a:pPr algn="ctr"/>
            <a:r>
              <a:rPr sz="1300" b="0" i="0">
                <a:solidFill>
                  <a:srgbClr val="14F195"/>
                </a:solidFill>
                <a:latin typeface="Arial"/>
              </a:rPr>
              <a:t>✅ EVM</a:t>
            </a:r>
          </a:p>
        </p:txBody>
      </p:sp>
      <p:sp>
        <p:nvSpPr>
          <p:cNvPr id="23" name="Rectangle 22"/>
          <p:cNvSpPr/>
          <p:nvPr/>
        </p:nvSpPr>
        <p:spPr>
          <a:xfrm>
            <a:off x="7223760" y="176479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1856232"/>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25" name="Rectangle 24"/>
          <p:cNvSpPr/>
          <p:nvPr/>
        </p:nvSpPr>
        <p:spPr>
          <a:xfrm>
            <a:off x="9326880" y="176479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1856232"/>
            <a:ext cx="2011680" cy="438912"/>
          </a:xfrm>
          <a:prstGeom prst="rect">
            <a:avLst/>
          </a:prstGeom>
          <a:noFill/>
        </p:spPr>
        <p:txBody>
          <a:bodyPr wrap="square">
            <a:spAutoFit/>
          </a:bodyPr>
          <a:lstStyle/>
          <a:p>
            <a:pPr algn="ctr"/>
            <a:r>
              <a:rPr sz="1300" b="0" i="0">
                <a:solidFill>
                  <a:srgbClr val="8B949E"/>
                </a:solidFill>
                <a:latin typeface="Arial"/>
              </a:rPr>
              <a:t>Partial</a:t>
            </a:r>
          </a:p>
        </p:txBody>
      </p:sp>
      <p:sp>
        <p:nvSpPr>
          <p:cNvPr id="27" name="Rectangle 26"/>
          <p:cNvSpPr/>
          <p:nvPr/>
        </p:nvSpPr>
        <p:spPr>
          <a:xfrm>
            <a:off x="274320" y="2340864"/>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2432304"/>
            <a:ext cx="2468880" cy="438912"/>
          </a:xfrm>
          <a:prstGeom prst="rect">
            <a:avLst/>
          </a:prstGeom>
          <a:noFill/>
        </p:spPr>
        <p:txBody>
          <a:bodyPr wrap="square">
            <a:spAutoFit/>
          </a:bodyPr>
          <a:lstStyle/>
          <a:p>
            <a:pPr algn="l"/>
            <a:r>
              <a:rPr sz="1300" b="1" i="0">
                <a:solidFill>
                  <a:srgbClr val="8B949E"/>
                </a:solidFill>
                <a:latin typeface="Arial"/>
              </a:rPr>
              <a:t>Hardware attestation</a:t>
            </a:r>
          </a:p>
        </p:txBody>
      </p:sp>
      <p:sp>
        <p:nvSpPr>
          <p:cNvPr id="29" name="Rectangle 28"/>
          <p:cNvSpPr/>
          <p:nvPr/>
        </p:nvSpPr>
        <p:spPr>
          <a:xfrm>
            <a:off x="2834640" y="2340864"/>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2432304"/>
            <a:ext cx="2194560" cy="438912"/>
          </a:xfrm>
          <a:prstGeom prst="rect">
            <a:avLst/>
          </a:prstGeom>
          <a:noFill/>
        </p:spPr>
        <p:txBody>
          <a:bodyPr wrap="square">
            <a:spAutoFit/>
          </a:bodyPr>
          <a:lstStyle/>
          <a:p>
            <a:pPr algn="ctr"/>
            <a:r>
              <a:rPr sz="1300" b="0" i="0">
                <a:solidFill>
                  <a:srgbClr val="14F195"/>
                </a:solidFill>
                <a:latin typeface="Arial"/>
              </a:rPr>
              <a:t>✅ P-256
TPM roadmap</a:t>
            </a:r>
          </a:p>
        </p:txBody>
      </p:sp>
      <p:sp>
        <p:nvSpPr>
          <p:cNvPr id="31" name="Rectangle 30"/>
          <p:cNvSpPr/>
          <p:nvPr/>
        </p:nvSpPr>
        <p:spPr>
          <a:xfrm>
            <a:off x="5120640" y="2340864"/>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66360" y="2432304"/>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33" name="Rectangle 32"/>
          <p:cNvSpPr/>
          <p:nvPr/>
        </p:nvSpPr>
        <p:spPr>
          <a:xfrm>
            <a:off x="7223760" y="2340864"/>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9480" y="2432304"/>
            <a:ext cx="2011680" cy="438912"/>
          </a:xfrm>
          <a:prstGeom prst="rect">
            <a:avLst/>
          </a:prstGeom>
          <a:noFill/>
        </p:spPr>
        <p:txBody>
          <a:bodyPr wrap="square">
            <a:spAutoFit/>
          </a:bodyPr>
          <a:lstStyle/>
          <a:p>
            <a:pPr algn="ctr"/>
            <a:r>
              <a:rPr sz="1300" b="0" i="0">
                <a:solidFill>
                  <a:srgbClr val="8B949E"/>
                </a:solidFill>
                <a:latin typeface="Arial"/>
              </a:rPr>
              <a:t>❌ SSH/Ed25519</a:t>
            </a:r>
          </a:p>
        </p:txBody>
      </p:sp>
      <p:sp>
        <p:nvSpPr>
          <p:cNvPr id="35" name="Rectangle 34"/>
          <p:cNvSpPr/>
          <p:nvPr/>
        </p:nvSpPr>
        <p:spPr>
          <a:xfrm>
            <a:off x="9326880" y="2340864"/>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2432304"/>
            <a:ext cx="2011680" cy="438912"/>
          </a:xfrm>
          <a:prstGeom prst="rect">
            <a:avLst/>
          </a:prstGeom>
          <a:noFill/>
        </p:spPr>
        <p:txBody>
          <a:bodyPr wrap="square">
            <a:spAutoFit/>
          </a:bodyPr>
          <a:lstStyle/>
          <a:p>
            <a:pPr algn="ctr"/>
            <a:r>
              <a:rPr sz="1300" b="0" i="0">
                <a:solidFill>
                  <a:srgbClr val="14F195"/>
                </a:solidFill>
                <a:latin typeface="Arial"/>
              </a:rPr>
              <a:t>✅ MPC</a:t>
            </a:r>
          </a:p>
        </p:txBody>
      </p:sp>
      <p:sp>
        <p:nvSpPr>
          <p:cNvPr id="37" name="Rectangle 36"/>
          <p:cNvSpPr/>
          <p:nvPr/>
        </p:nvSpPr>
        <p:spPr>
          <a:xfrm>
            <a:off x="274320" y="2916936"/>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 y="3008376"/>
            <a:ext cx="2468880" cy="438912"/>
          </a:xfrm>
          <a:prstGeom prst="rect">
            <a:avLst/>
          </a:prstGeom>
          <a:noFill/>
        </p:spPr>
        <p:txBody>
          <a:bodyPr wrap="square">
            <a:spAutoFit/>
          </a:bodyPr>
          <a:lstStyle/>
          <a:p>
            <a:pPr algn="l"/>
            <a:r>
              <a:rPr sz="1300" b="1" i="0">
                <a:solidFill>
                  <a:srgbClr val="8B949E"/>
                </a:solidFill>
                <a:latin typeface="Arial"/>
              </a:rPr>
              <a:t>Reputation oracle</a:t>
            </a:r>
          </a:p>
        </p:txBody>
      </p:sp>
      <p:sp>
        <p:nvSpPr>
          <p:cNvPr id="39" name="Rectangle 38"/>
          <p:cNvSpPr/>
          <p:nvPr/>
        </p:nvSpPr>
        <p:spPr>
          <a:xfrm>
            <a:off x="2834640" y="2916936"/>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80360" y="3008376"/>
            <a:ext cx="2194560" cy="438912"/>
          </a:xfrm>
          <a:prstGeom prst="rect">
            <a:avLst/>
          </a:prstGeom>
          <a:noFill/>
        </p:spPr>
        <p:txBody>
          <a:bodyPr wrap="square">
            <a:spAutoFit/>
          </a:bodyPr>
          <a:lstStyle/>
          <a:p>
            <a:pPr algn="ctr"/>
            <a:r>
              <a:rPr sz="1300" b="0" i="0">
                <a:solidFill>
                  <a:srgbClr val="14F195"/>
                </a:solidFill>
                <a:latin typeface="Arial"/>
              </a:rPr>
              <a:t>✅ CPI-readable</a:t>
            </a:r>
          </a:p>
        </p:txBody>
      </p:sp>
      <p:sp>
        <p:nvSpPr>
          <p:cNvPr id="41" name="Rectangle 40"/>
          <p:cNvSpPr/>
          <p:nvPr/>
        </p:nvSpPr>
        <p:spPr>
          <a:xfrm>
            <a:off x="5120640" y="2916936"/>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3008376"/>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43" name="Rectangle 42"/>
          <p:cNvSpPr/>
          <p:nvPr/>
        </p:nvSpPr>
        <p:spPr>
          <a:xfrm>
            <a:off x="7223760" y="2916936"/>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69480" y="3008376"/>
            <a:ext cx="2011680" cy="438912"/>
          </a:xfrm>
          <a:prstGeom prst="rect">
            <a:avLst/>
          </a:prstGeom>
          <a:noFill/>
        </p:spPr>
        <p:txBody>
          <a:bodyPr wrap="square">
            <a:spAutoFit/>
          </a:bodyPr>
          <a:lstStyle/>
          <a:p>
            <a:pPr algn="ctr"/>
            <a:r>
              <a:rPr sz="1300" b="0" i="0">
                <a:solidFill>
                  <a:srgbClr val="8B949E"/>
                </a:solidFill>
                <a:latin typeface="Arial"/>
              </a:rPr>
              <a:t>Social</a:t>
            </a:r>
          </a:p>
        </p:txBody>
      </p:sp>
      <p:sp>
        <p:nvSpPr>
          <p:cNvPr id="45" name="Rectangle 44"/>
          <p:cNvSpPr/>
          <p:nvPr/>
        </p:nvSpPr>
        <p:spPr>
          <a:xfrm>
            <a:off x="9326880" y="2916936"/>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72600" y="3008376"/>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47" name="Rectangle 46"/>
          <p:cNvSpPr/>
          <p:nvPr/>
        </p:nvSpPr>
        <p:spPr>
          <a:xfrm>
            <a:off x="274320" y="3493008"/>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3584448"/>
            <a:ext cx="2468880" cy="438912"/>
          </a:xfrm>
          <a:prstGeom prst="rect">
            <a:avLst/>
          </a:prstGeom>
          <a:noFill/>
        </p:spPr>
        <p:txBody>
          <a:bodyPr wrap="square">
            <a:spAutoFit/>
          </a:bodyPr>
          <a:lstStyle/>
          <a:p>
            <a:pPr algn="l"/>
            <a:r>
              <a:rPr sz="1300" b="1" i="0">
                <a:solidFill>
                  <a:srgbClr val="8B949E"/>
                </a:solidFill>
                <a:latin typeface="Arial"/>
              </a:rPr>
              <a:t>Programmable escrow</a:t>
            </a:r>
          </a:p>
        </p:txBody>
      </p:sp>
      <p:sp>
        <p:nvSpPr>
          <p:cNvPr id="49" name="Rectangle 48"/>
          <p:cNvSpPr/>
          <p:nvPr/>
        </p:nvSpPr>
        <p:spPr>
          <a:xfrm>
            <a:off x="2834640" y="3493008"/>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880360" y="3584448"/>
            <a:ext cx="2194560" cy="438912"/>
          </a:xfrm>
          <a:prstGeom prst="rect">
            <a:avLst/>
          </a:prstGeom>
          <a:noFill/>
        </p:spPr>
        <p:txBody>
          <a:bodyPr wrap="square">
            <a:spAutoFit/>
          </a:bodyPr>
          <a:lstStyle/>
          <a:p>
            <a:pPr algn="ctr"/>
            <a:r>
              <a:rPr sz="1300" b="0" i="0">
                <a:solidFill>
                  <a:srgbClr val="14F195"/>
                </a:solidFill>
                <a:latin typeface="Arial"/>
              </a:rPr>
              <a:t>✅ + dispute</a:t>
            </a:r>
          </a:p>
        </p:txBody>
      </p:sp>
      <p:sp>
        <p:nvSpPr>
          <p:cNvPr id="51" name="Rectangle 50"/>
          <p:cNvSpPr/>
          <p:nvPr/>
        </p:nvSpPr>
        <p:spPr>
          <a:xfrm>
            <a:off x="5120640" y="3493008"/>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66360" y="3584448"/>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53" name="Rectangle 52"/>
          <p:cNvSpPr/>
          <p:nvPr/>
        </p:nvSpPr>
        <p:spPr>
          <a:xfrm>
            <a:off x="7223760" y="3493008"/>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9480" y="3584448"/>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55" name="Rectangle 54"/>
          <p:cNvSpPr/>
          <p:nvPr/>
        </p:nvSpPr>
        <p:spPr>
          <a:xfrm>
            <a:off x="9326880" y="3493008"/>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72600" y="3584448"/>
            <a:ext cx="2011680" cy="438912"/>
          </a:xfrm>
          <a:prstGeom prst="rect">
            <a:avLst/>
          </a:prstGeom>
          <a:noFill/>
        </p:spPr>
        <p:txBody>
          <a:bodyPr wrap="square">
            <a:spAutoFit/>
          </a:bodyPr>
          <a:lstStyle/>
          <a:p>
            <a:pPr algn="ctr"/>
            <a:r>
              <a:rPr sz="1300" b="0" i="0">
                <a:solidFill>
                  <a:srgbClr val="8B949E"/>
                </a:solidFill>
                <a:latin typeface="Arial"/>
              </a:rPr>
              <a:t>Partial</a:t>
            </a:r>
          </a:p>
        </p:txBody>
      </p:sp>
      <p:sp>
        <p:nvSpPr>
          <p:cNvPr id="57" name="Rectangle 56"/>
          <p:cNvSpPr/>
          <p:nvPr/>
        </p:nvSpPr>
        <p:spPr>
          <a:xfrm>
            <a:off x="274320" y="4069080"/>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0040" y="4160520"/>
            <a:ext cx="2468880" cy="438912"/>
          </a:xfrm>
          <a:prstGeom prst="rect">
            <a:avLst/>
          </a:prstGeom>
          <a:noFill/>
        </p:spPr>
        <p:txBody>
          <a:bodyPr wrap="square">
            <a:spAutoFit/>
          </a:bodyPr>
          <a:lstStyle/>
          <a:p>
            <a:pPr algn="l"/>
            <a:r>
              <a:rPr sz="1300" b="1" i="0">
                <a:solidFill>
                  <a:srgbClr val="8B949E"/>
                </a:solidFill>
                <a:latin typeface="Arial"/>
              </a:rPr>
              <a:t>Solana-native</a:t>
            </a:r>
          </a:p>
        </p:txBody>
      </p:sp>
      <p:sp>
        <p:nvSpPr>
          <p:cNvPr id="59" name="Rectangle 58"/>
          <p:cNvSpPr/>
          <p:nvPr/>
        </p:nvSpPr>
        <p:spPr>
          <a:xfrm>
            <a:off x="2834640" y="4069080"/>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80360" y="4160520"/>
            <a:ext cx="2194560" cy="438912"/>
          </a:xfrm>
          <a:prstGeom prst="rect">
            <a:avLst/>
          </a:prstGeom>
          <a:noFill/>
        </p:spPr>
        <p:txBody>
          <a:bodyPr wrap="square">
            <a:spAutoFit/>
          </a:bodyPr>
          <a:lstStyle/>
          <a:p>
            <a:pPr algn="ctr"/>
            <a:r>
              <a:rPr sz="1300" b="0" i="0">
                <a:solidFill>
                  <a:srgbClr val="14F195"/>
                </a:solidFill>
                <a:latin typeface="Arial"/>
              </a:rPr>
              <a:t>✅</a:t>
            </a:r>
          </a:p>
        </p:txBody>
      </p:sp>
      <p:sp>
        <p:nvSpPr>
          <p:cNvPr id="61" name="Rectangle 60"/>
          <p:cNvSpPr/>
          <p:nvPr/>
        </p:nvSpPr>
        <p:spPr>
          <a:xfrm>
            <a:off x="5120640" y="4069080"/>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166360" y="4160520"/>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63" name="Rectangle 62"/>
          <p:cNvSpPr/>
          <p:nvPr/>
        </p:nvSpPr>
        <p:spPr>
          <a:xfrm>
            <a:off x="7223760" y="4069080"/>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69480" y="4160520"/>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65" name="Rectangle 64"/>
          <p:cNvSpPr/>
          <p:nvPr/>
        </p:nvSpPr>
        <p:spPr>
          <a:xfrm>
            <a:off x="9326880" y="4069080"/>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72600" y="4160520"/>
            <a:ext cx="2011680" cy="438912"/>
          </a:xfrm>
          <a:prstGeom prst="rect">
            <a:avLst/>
          </a:prstGeom>
          <a:noFill/>
        </p:spPr>
        <p:txBody>
          <a:bodyPr wrap="square">
            <a:spAutoFit/>
          </a:bodyPr>
          <a:lstStyle/>
          <a:p>
            <a:pPr algn="ctr"/>
            <a:r>
              <a:rPr sz="1300" b="0" i="0">
                <a:solidFill>
                  <a:srgbClr val="FF6B6B"/>
                </a:solidFill>
                <a:latin typeface="Arial"/>
              </a:rPr>
              <a:t>❌</a:t>
            </a:r>
          </a:p>
        </p:txBody>
      </p:sp>
      <p:sp>
        <p:nvSpPr>
          <p:cNvPr id="67" name="Rectangle 66"/>
          <p:cNvSpPr/>
          <p:nvPr/>
        </p:nvSpPr>
        <p:spPr>
          <a:xfrm>
            <a:off x="274320" y="4645152"/>
            <a:ext cx="25603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0040" y="4736592"/>
            <a:ext cx="2468880" cy="438912"/>
          </a:xfrm>
          <a:prstGeom prst="rect">
            <a:avLst/>
          </a:prstGeom>
          <a:noFill/>
        </p:spPr>
        <p:txBody>
          <a:bodyPr wrap="square">
            <a:spAutoFit/>
          </a:bodyPr>
          <a:lstStyle/>
          <a:p>
            <a:pPr algn="l"/>
            <a:r>
              <a:rPr sz="1300" b="1" i="0">
                <a:solidFill>
                  <a:srgbClr val="8B949E"/>
                </a:solidFill>
                <a:latin typeface="Arial"/>
              </a:rPr>
              <a:t>AI agent focus</a:t>
            </a:r>
          </a:p>
        </p:txBody>
      </p:sp>
      <p:sp>
        <p:nvSpPr>
          <p:cNvPr id="69" name="Rectangle 68"/>
          <p:cNvSpPr/>
          <p:nvPr/>
        </p:nvSpPr>
        <p:spPr>
          <a:xfrm>
            <a:off x="2834640" y="4645152"/>
            <a:ext cx="2286000" cy="576072"/>
          </a:xfrm>
          <a:prstGeom prst="rect">
            <a:avLst/>
          </a:prstGeom>
          <a:solidFill>
            <a:srgbClr val="0F2418"/>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80360" y="4736592"/>
            <a:ext cx="2194560" cy="438912"/>
          </a:xfrm>
          <a:prstGeom prst="rect">
            <a:avLst/>
          </a:prstGeom>
          <a:noFill/>
        </p:spPr>
        <p:txBody>
          <a:bodyPr wrap="square">
            <a:spAutoFit/>
          </a:bodyPr>
          <a:lstStyle/>
          <a:p>
            <a:pPr algn="ctr"/>
            <a:r>
              <a:rPr sz="1300" b="0" i="0">
                <a:solidFill>
                  <a:srgbClr val="14F195"/>
                </a:solidFill>
                <a:latin typeface="Arial"/>
              </a:rPr>
              <a:t>✅</a:t>
            </a:r>
          </a:p>
        </p:txBody>
      </p:sp>
      <p:sp>
        <p:nvSpPr>
          <p:cNvPr id="71" name="Rectangle 70"/>
          <p:cNvSpPr/>
          <p:nvPr/>
        </p:nvSpPr>
        <p:spPr>
          <a:xfrm>
            <a:off x="5120640" y="464515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166360" y="4736592"/>
            <a:ext cx="2011680" cy="438912"/>
          </a:xfrm>
          <a:prstGeom prst="rect">
            <a:avLst/>
          </a:prstGeom>
          <a:noFill/>
        </p:spPr>
        <p:txBody>
          <a:bodyPr wrap="square">
            <a:spAutoFit/>
          </a:bodyPr>
          <a:lstStyle/>
          <a:p>
            <a:pPr algn="ctr"/>
            <a:r>
              <a:rPr sz="1300" b="0" i="0">
                <a:solidFill>
                  <a:srgbClr val="8B949E"/>
                </a:solidFill>
                <a:latin typeface="Arial"/>
              </a:rPr>
              <a:t>General</a:t>
            </a:r>
          </a:p>
        </p:txBody>
      </p:sp>
      <p:sp>
        <p:nvSpPr>
          <p:cNvPr id="73" name="Rectangle 72"/>
          <p:cNvSpPr/>
          <p:nvPr/>
        </p:nvSpPr>
        <p:spPr>
          <a:xfrm>
            <a:off x="7223760" y="464515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69480" y="4736592"/>
            <a:ext cx="2011680" cy="438912"/>
          </a:xfrm>
          <a:prstGeom prst="rect">
            <a:avLst/>
          </a:prstGeom>
          <a:noFill/>
        </p:spPr>
        <p:txBody>
          <a:bodyPr wrap="square">
            <a:spAutoFit/>
          </a:bodyPr>
          <a:lstStyle/>
          <a:p>
            <a:pPr algn="ctr"/>
            <a:r>
              <a:rPr sz="1300" b="0" i="0">
                <a:solidFill>
                  <a:srgbClr val="8B949E"/>
                </a:solidFill>
                <a:latin typeface="Arial"/>
              </a:rPr>
              <a:t>IdP / DevOps</a:t>
            </a:r>
          </a:p>
        </p:txBody>
      </p:sp>
      <p:sp>
        <p:nvSpPr>
          <p:cNvPr id="75" name="Rectangle 74"/>
          <p:cNvSpPr/>
          <p:nvPr/>
        </p:nvSpPr>
        <p:spPr>
          <a:xfrm>
            <a:off x="9326880" y="4645152"/>
            <a:ext cx="2103120" cy="576072"/>
          </a:xfrm>
          <a:prstGeom prst="rect">
            <a:avLst/>
          </a:prstGeom>
          <a:solidFill>
            <a:srgbClr val="13171E"/>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72600" y="4736592"/>
            <a:ext cx="2011680" cy="438912"/>
          </a:xfrm>
          <a:prstGeom prst="rect">
            <a:avLst/>
          </a:prstGeom>
          <a:noFill/>
        </p:spPr>
        <p:txBody>
          <a:bodyPr wrap="square">
            <a:spAutoFit/>
          </a:bodyPr>
          <a:lstStyle/>
          <a:p>
            <a:pPr algn="ctr"/>
            <a:r>
              <a:rPr sz="1300" b="0" i="0">
                <a:solidFill>
                  <a:srgbClr val="8B949E"/>
                </a:solidFill>
                <a:latin typeface="Arial"/>
              </a:rPr>
              <a:t>Enterprise</a:t>
            </a:r>
          </a:p>
        </p:txBody>
      </p:sp>
      <p:sp>
        <p:nvSpPr>
          <p:cNvPr id="77" name="Rectangle 76"/>
          <p:cNvSpPr/>
          <p:nvPr/>
        </p:nvSpPr>
        <p:spPr>
          <a:xfrm>
            <a:off x="274320" y="5349240"/>
            <a:ext cx="11612880" cy="594360"/>
          </a:xfrm>
          <a:prstGeom prst="rect">
            <a:avLst/>
          </a:prstGeom>
          <a:solidFill>
            <a:srgbClr val="102A1E"/>
          </a:solidFill>
          <a:ln w="127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5422392"/>
            <a:ext cx="11247120" cy="457200"/>
          </a:xfrm>
          <a:prstGeom prst="rect">
            <a:avLst/>
          </a:prstGeom>
          <a:noFill/>
        </p:spPr>
        <p:txBody>
          <a:bodyPr wrap="square">
            <a:spAutoFit/>
          </a:bodyPr>
          <a:lstStyle/>
          <a:p>
            <a:pPr algn="ctr"/>
            <a:r>
              <a:rPr sz="2200" b="1" i="0">
                <a:solidFill>
                  <a:srgbClr val="14F195"/>
                </a:solidFill>
                <a:latin typeface="Arial"/>
              </a:rPr>
              <a:t>"They built the badge.  We built the vault."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12  Ecosystem Fit</a:t>
            </a:r>
          </a:p>
        </p:txBody>
      </p:sp>
      <p:sp>
        <p:nvSpPr>
          <p:cNvPr id="5" name="TextBox 4"/>
          <p:cNvSpPr txBox="1"/>
          <p:nvPr/>
        </p:nvSpPr>
        <p:spPr>
          <a:xfrm>
            <a:off x="548640" y="365760"/>
            <a:ext cx="10972800" cy="685800"/>
          </a:xfrm>
          <a:prstGeom prst="rect">
            <a:avLst/>
          </a:prstGeom>
          <a:noFill/>
        </p:spPr>
        <p:txBody>
          <a:bodyPr wrap="square">
            <a:spAutoFit/>
          </a:bodyPr>
          <a:lstStyle/>
          <a:p>
            <a:pPr algn="l"/>
            <a:r>
              <a:rPr sz="3600" b="1" i="0">
                <a:solidFill>
                  <a:srgbClr val="FFFFFF"/>
                </a:solidFill>
                <a:latin typeface="Arial"/>
              </a:rPr>
              <a:t>Built for the Solana AI agent ecosystem</a:t>
            </a:r>
          </a:p>
        </p:txBody>
      </p:sp>
      <p:sp>
        <p:nvSpPr>
          <p:cNvPr id="6" name="Rectangle 5"/>
          <p:cNvSpPr/>
          <p:nvPr/>
        </p:nvSpPr>
        <p:spPr>
          <a:xfrm>
            <a:off x="457200" y="109728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34440"/>
            <a:ext cx="3566160" cy="45720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61872"/>
            <a:ext cx="3383280" cy="384048"/>
          </a:xfrm>
          <a:prstGeom prst="rect">
            <a:avLst/>
          </a:prstGeom>
          <a:noFill/>
        </p:spPr>
        <p:txBody>
          <a:bodyPr wrap="square">
            <a:spAutoFit/>
          </a:bodyPr>
          <a:lstStyle/>
          <a:p>
            <a:pPr algn="ctr"/>
            <a:r>
              <a:rPr sz="1600" b="1" i="0">
                <a:solidFill>
                  <a:srgbClr val="14F195"/>
                </a:solidFill>
                <a:latin typeface="Arial"/>
              </a:rPr>
              <a:t>Agent Frameworks</a:t>
            </a:r>
          </a:p>
        </p:txBody>
      </p:sp>
      <p:sp>
        <p:nvSpPr>
          <p:cNvPr id="9" name="Rectangle 8"/>
          <p:cNvSpPr/>
          <p:nvPr/>
        </p:nvSpPr>
        <p:spPr>
          <a:xfrm>
            <a:off x="457200" y="17830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74520"/>
            <a:ext cx="3291840" cy="411480"/>
          </a:xfrm>
          <a:prstGeom prst="rect">
            <a:avLst/>
          </a:prstGeom>
          <a:noFill/>
        </p:spPr>
        <p:txBody>
          <a:bodyPr wrap="square">
            <a:spAutoFit/>
          </a:bodyPr>
          <a:lstStyle/>
          <a:p>
            <a:pPr algn="l"/>
            <a:r>
              <a:rPr sz="1500" b="1" i="0">
                <a:solidFill>
                  <a:srgbClr val="FFFFFF"/>
                </a:solidFill>
                <a:latin typeface="Arial"/>
              </a:rPr>
              <a:t>ElizaOS / ai16z</a:t>
            </a:r>
          </a:p>
        </p:txBody>
      </p:sp>
      <p:sp>
        <p:nvSpPr>
          <p:cNvPr id="11" name="TextBox 10"/>
          <p:cNvSpPr txBox="1"/>
          <p:nvPr/>
        </p:nvSpPr>
        <p:spPr>
          <a:xfrm>
            <a:off x="594360" y="2286000"/>
            <a:ext cx="3291840" cy="640080"/>
          </a:xfrm>
          <a:prstGeom prst="rect">
            <a:avLst/>
          </a:prstGeom>
          <a:noFill/>
        </p:spPr>
        <p:txBody>
          <a:bodyPr wrap="square">
            <a:spAutoFit/>
          </a:bodyPr>
          <a:lstStyle/>
          <a:p>
            <a:pPr algn="l"/>
            <a:r>
              <a:rPr sz="1300" b="0" i="0">
                <a:solidFill>
                  <a:srgbClr val="8B949E"/>
                </a:solidFill>
                <a:latin typeface="Arial"/>
              </a:rPr>
              <a:t>Holdfast plugin: agent
identity + escrow</a:t>
            </a:r>
          </a:p>
        </p:txBody>
      </p:sp>
      <p:sp>
        <p:nvSpPr>
          <p:cNvPr id="12" name="Rectangle 11"/>
          <p:cNvSpPr/>
          <p:nvPr/>
        </p:nvSpPr>
        <p:spPr>
          <a:xfrm>
            <a:off x="457200" y="31546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246120"/>
            <a:ext cx="3291840" cy="411480"/>
          </a:xfrm>
          <a:prstGeom prst="rect">
            <a:avLst/>
          </a:prstGeom>
          <a:noFill/>
        </p:spPr>
        <p:txBody>
          <a:bodyPr wrap="square">
            <a:spAutoFit/>
          </a:bodyPr>
          <a:lstStyle/>
          <a:p>
            <a:pPr algn="l"/>
            <a:r>
              <a:rPr sz="1500" b="1" i="0">
                <a:solidFill>
                  <a:srgbClr val="FFFFFF"/>
                </a:solidFill>
                <a:latin typeface="Arial"/>
              </a:rPr>
              <a:t>Solana Agent Kit</a:t>
            </a:r>
          </a:p>
        </p:txBody>
      </p:sp>
      <p:sp>
        <p:nvSpPr>
          <p:cNvPr id="14" name="TextBox 13"/>
          <p:cNvSpPr txBox="1"/>
          <p:nvPr/>
        </p:nvSpPr>
        <p:spPr>
          <a:xfrm>
            <a:off x="594360" y="3657600"/>
            <a:ext cx="3291840" cy="640080"/>
          </a:xfrm>
          <a:prstGeom prst="rect">
            <a:avLst/>
          </a:prstGeom>
          <a:noFill/>
        </p:spPr>
        <p:txBody>
          <a:bodyPr wrap="square">
            <a:spAutoFit/>
          </a:bodyPr>
          <a:lstStyle/>
          <a:p>
            <a:pPr algn="l"/>
            <a:r>
              <a:rPr sz="1300" b="0" i="0">
                <a:solidFill>
                  <a:srgbClr val="8B949E"/>
                </a:solidFill>
                <a:latin typeface="Arial"/>
              </a:rPr>
              <a:t>Native Holdfast
Protocol actions</a:t>
            </a:r>
          </a:p>
        </p:txBody>
      </p:sp>
      <p:sp>
        <p:nvSpPr>
          <p:cNvPr id="15" name="Rectangle 14"/>
          <p:cNvSpPr/>
          <p:nvPr/>
        </p:nvSpPr>
        <p:spPr>
          <a:xfrm>
            <a:off x="457200" y="45262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617720"/>
            <a:ext cx="3291840" cy="411480"/>
          </a:xfrm>
          <a:prstGeom prst="rect">
            <a:avLst/>
          </a:prstGeom>
          <a:noFill/>
        </p:spPr>
        <p:txBody>
          <a:bodyPr wrap="square">
            <a:spAutoFit/>
          </a:bodyPr>
          <a:lstStyle/>
          <a:p>
            <a:pPr algn="l"/>
            <a:r>
              <a:rPr sz="1500" b="1" i="0">
                <a:solidFill>
                  <a:srgbClr val="FFFFFF"/>
                </a:solidFill>
                <a:latin typeface="Arial"/>
              </a:rPr>
              <a:t>Olas / Autonolas</a:t>
            </a:r>
          </a:p>
        </p:txBody>
      </p:sp>
      <p:sp>
        <p:nvSpPr>
          <p:cNvPr id="17" name="TextBox 16"/>
          <p:cNvSpPr txBox="1"/>
          <p:nvPr/>
        </p:nvSpPr>
        <p:spPr>
          <a:xfrm>
            <a:off x="594360" y="5029200"/>
            <a:ext cx="3291840" cy="640080"/>
          </a:xfrm>
          <a:prstGeom prst="rect">
            <a:avLst/>
          </a:prstGeom>
          <a:noFill/>
        </p:spPr>
        <p:txBody>
          <a:bodyPr wrap="square">
            <a:spAutoFit/>
          </a:bodyPr>
          <a:lstStyle/>
          <a:p>
            <a:pPr algn="l"/>
            <a:r>
              <a:rPr sz="1300" b="0" i="0">
                <a:solidFill>
                  <a:srgbClr val="8B949E"/>
                </a:solidFill>
                <a:latin typeface="Arial"/>
              </a:rPr>
              <a:t>Attestation for
autonomous services</a:t>
            </a:r>
          </a:p>
        </p:txBody>
      </p:sp>
      <p:sp>
        <p:nvSpPr>
          <p:cNvPr id="18" name="Rectangle 17"/>
          <p:cNvSpPr/>
          <p:nvPr/>
        </p:nvSpPr>
        <p:spPr>
          <a:xfrm>
            <a:off x="4297680" y="1234440"/>
            <a:ext cx="3566160" cy="457200"/>
          </a:xfrm>
          <a:prstGeom prst="rect">
            <a:avLst/>
          </a:prstGeom>
          <a:solidFill>
            <a:srgbClr val="161B22"/>
          </a:solidFill>
          <a:ln w="1905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1261872"/>
            <a:ext cx="3383280" cy="384048"/>
          </a:xfrm>
          <a:prstGeom prst="rect">
            <a:avLst/>
          </a:prstGeom>
          <a:noFill/>
        </p:spPr>
        <p:txBody>
          <a:bodyPr wrap="square">
            <a:spAutoFit/>
          </a:bodyPr>
          <a:lstStyle/>
          <a:p>
            <a:pPr algn="ctr"/>
            <a:r>
              <a:rPr sz="1600" b="1" i="0">
                <a:solidFill>
                  <a:srgbClr val="9945FF"/>
                </a:solidFill>
                <a:latin typeface="Arial"/>
              </a:rPr>
              <a:t>DeFi Protocols</a:t>
            </a:r>
          </a:p>
        </p:txBody>
      </p:sp>
      <p:sp>
        <p:nvSpPr>
          <p:cNvPr id="20" name="Rectangle 19"/>
          <p:cNvSpPr/>
          <p:nvPr/>
        </p:nvSpPr>
        <p:spPr>
          <a:xfrm>
            <a:off x="4297680" y="17830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1874520"/>
            <a:ext cx="3291840" cy="411480"/>
          </a:xfrm>
          <a:prstGeom prst="rect">
            <a:avLst/>
          </a:prstGeom>
          <a:noFill/>
        </p:spPr>
        <p:txBody>
          <a:bodyPr wrap="square">
            <a:spAutoFit/>
          </a:bodyPr>
          <a:lstStyle/>
          <a:p>
            <a:pPr algn="l"/>
            <a:r>
              <a:rPr sz="1500" b="1" i="0">
                <a:solidFill>
                  <a:srgbClr val="FFFFFF"/>
                </a:solidFill>
                <a:latin typeface="Arial"/>
              </a:rPr>
              <a:t>Jupiter</a:t>
            </a:r>
          </a:p>
        </p:txBody>
      </p:sp>
      <p:sp>
        <p:nvSpPr>
          <p:cNvPr id="22" name="TextBox 21"/>
          <p:cNvSpPr txBox="1"/>
          <p:nvPr/>
        </p:nvSpPr>
        <p:spPr>
          <a:xfrm>
            <a:off x="4434840" y="2286000"/>
            <a:ext cx="3291840" cy="640080"/>
          </a:xfrm>
          <a:prstGeom prst="rect">
            <a:avLst/>
          </a:prstGeom>
          <a:noFill/>
        </p:spPr>
        <p:txBody>
          <a:bodyPr wrap="square">
            <a:spAutoFit/>
          </a:bodyPr>
          <a:lstStyle/>
          <a:p>
            <a:pPr algn="l"/>
            <a:r>
              <a:rPr sz="1300" b="0" i="0">
                <a:solidFill>
                  <a:srgbClr val="8B949E"/>
                </a:solidFill>
                <a:latin typeface="Arial"/>
              </a:rPr>
              <a:t>Agent-gated routing limits
(reputation check)</a:t>
            </a:r>
          </a:p>
        </p:txBody>
      </p:sp>
      <p:sp>
        <p:nvSpPr>
          <p:cNvPr id="23" name="Rectangle 22"/>
          <p:cNvSpPr/>
          <p:nvPr/>
        </p:nvSpPr>
        <p:spPr>
          <a:xfrm>
            <a:off x="4297680" y="31546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3246120"/>
            <a:ext cx="3291840" cy="411480"/>
          </a:xfrm>
          <a:prstGeom prst="rect">
            <a:avLst/>
          </a:prstGeom>
          <a:noFill/>
        </p:spPr>
        <p:txBody>
          <a:bodyPr wrap="square">
            <a:spAutoFit/>
          </a:bodyPr>
          <a:lstStyle/>
          <a:p>
            <a:pPr algn="l"/>
            <a:r>
              <a:rPr sz="1500" b="1" i="0">
                <a:solidFill>
                  <a:srgbClr val="FFFFFF"/>
                </a:solidFill>
                <a:latin typeface="Arial"/>
              </a:rPr>
              <a:t>Drift Protocol</a:t>
            </a:r>
          </a:p>
        </p:txBody>
      </p:sp>
      <p:sp>
        <p:nvSpPr>
          <p:cNvPr id="25" name="TextBox 24"/>
          <p:cNvSpPr txBox="1"/>
          <p:nvPr/>
        </p:nvSpPr>
        <p:spPr>
          <a:xfrm>
            <a:off x="4434840" y="3657600"/>
            <a:ext cx="3291840" cy="640080"/>
          </a:xfrm>
          <a:prstGeom prst="rect">
            <a:avLst/>
          </a:prstGeom>
          <a:noFill/>
        </p:spPr>
        <p:txBody>
          <a:bodyPr wrap="square">
            <a:spAutoFit/>
          </a:bodyPr>
          <a:lstStyle/>
          <a:p>
            <a:pPr algn="l"/>
            <a:r>
              <a:rPr sz="1300" b="0" i="0">
                <a:solidFill>
                  <a:srgbClr val="8B949E"/>
                </a:solidFill>
                <a:latin typeface="Arial"/>
              </a:rPr>
              <a:t>Agent identity + risk
attestation for perps</a:t>
            </a:r>
          </a:p>
        </p:txBody>
      </p:sp>
      <p:sp>
        <p:nvSpPr>
          <p:cNvPr id="26" name="Rectangle 25"/>
          <p:cNvSpPr/>
          <p:nvPr/>
        </p:nvSpPr>
        <p:spPr>
          <a:xfrm>
            <a:off x="4297680" y="45262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617720"/>
            <a:ext cx="3291840" cy="411480"/>
          </a:xfrm>
          <a:prstGeom prst="rect">
            <a:avLst/>
          </a:prstGeom>
          <a:noFill/>
        </p:spPr>
        <p:txBody>
          <a:bodyPr wrap="square">
            <a:spAutoFit/>
          </a:bodyPr>
          <a:lstStyle/>
          <a:p>
            <a:pPr algn="l"/>
            <a:r>
              <a:rPr sz="1500" b="1" i="0">
                <a:solidFill>
                  <a:srgbClr val="FFFFFF"/>
                </a:solidFill>
                <a:latin typeface="Arial"/>
              </a:rPr>
              <a:t>Jito</a:t>
            </a:r>
          </a:p>
        </p:txBody>
      </p:sp>
      <p:sp>
        <p:nvSpPr>
          <p:cNvPr id="28" name="TextBox 27"/>
          <p:cNvSpPr txBox="1"/>
          <p:nvPr/>
        </p:nvSpPr>
        <p:spPr>
          <a:xfrm>
            <a:off x="4434840" y="5029200"/>
            <a:ext cx="3291840" cy="640080"/>
          </a:xfrm>
          <a:prstGeom prst="rect">
            <a:avLst/>
          </a:prstGeom>
          <a:noFill/>
        </p:spPr>
        <p:txBody>
          <a:bodyPr wrap="square">
            <a:spAutoFit/>
          </a:bodyPr>
          <a:lstStyle/>
          <a:p>
            <a:pPr algn="l"/>
            <a:r>
              <a:rPr sz="1300" b="0" i="0">
                <a:solidFill>
                  <a:srgbClr val="8B949E"/>
                </a:solidFill>
                <a:latin typeface="Arial"/>
              </a:rPr>
              <a:t>Validator-side agent
trust layer</a:t>
            </a:r>
          </a:p>
        </p:txBody>
      </p:sp>
      <p:sp>
        <p:nvSpPr>
          <p:cNvPr id="29" name="Rectangle 28"/>
          <p:cNvSpPr/>
          <p:nvPr/>
        </p:nvSpPr>
        <p:spPr>
          <a:xfrm>
            <a:off x="8138160" y="1234440"/>
            <a:ext cx="3566160" cy="457200"/>
          </a:xfrm>
          <a:prstGeom prst="rect">
            <a:avLst/>
          </a:prstGeom>
          <a:solidFill>
            <a:srgbClr val="161B22"/>
          </a:solidFill>
          <a:ln w="1905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1261872"/>
            <a:ext cx="3383280" cy="384048"/>
          </a:xfrm>
          <a:prstGeom prst="rect">
            <a:avLst/>
          </a:prstGeom>
          <a:noFill/>
        </p:spPr>
        <p:txBody>
          <a:bodyPr wrap="square">
            <a:spAutoFit/>
          </a:bodyPr>
          <a:lstStyle/>
          <a:p>
            <a:pPr algn="ctr"/>
            <a:r>
              <a:rPr sz="1600" b="1" i="0">
                <a:solidFill>
                  <a:srgbClr val="FFA500"/>
                </a:solidFill>
                <a:latin typeface="Arial"/>
              </a:rPr>
              <a:t>Integrate now</a:t>
            </a:r>
          </a:p>
        </p:txBody>
      </p:sp>
      <p:sp>
        <p:nvSpPr>
          <p:cNvPr id="31" name="Rectangle 30"/>
          <p:cNvSpPr/>
          <p:nvPr/>
        </p:nvSpPr>
        <p:spPr>
          <a:xfrm>
            <a:off x="8138160" y="17830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1874520"/>
            <a:ext cx="3291840" cy="411480"/>
          </a:xfrm>
          <a:prstGeom prst="rect">
            <a:avLst/>
          </a:prstGeom>
          <a:noFill/>
        </p:spPr>
        <p:txBody>
          <a:bodyPr wrap="square">
            <a:spAutoFit/>
          </a:bodyPr>
          <a:lstStyle/>
          <a:p>
            <a:pPr algn="l"/>
            <a:r>
              <a:rPr sz="1500" b="1" i="0">
                <a:solidFill>
                  <a:srgbClr val="FFFFFF"/>
                </a:solidFill>
                <a:latin typeface="Arial"/>
              </a:rPr>
              <a:t>npm install</a:t>
            </a:r>
          </a:p>
        </p:txBody>
      </p:sp>
      <p:sp>
        <p:nvSpPr>
          <p:cNvPr id="33" name="TextBox 32"/>
          <p:cNvSpPr txBox="1"/>
          <p:nvPr/>
        </p:nvSpPr>
        <p:spPr>
          <a:xfrm>
            <a:off x="8275320" y="2286000"/>
            <a:ext cx="3291840" cy="640080"/>
          </a:xfrm>
          <a:prstGeom prst="rect">
            <a:avLst/>
          </a:prstGeom>
          <a:noFill/>
        </p:spPr>
        <p:txBody>
          <a:bodyPr wrap="square">
            <a:spAutoFit/>
          </a:bodyPr>
          <a:lstStyle/>
          <a:p>
            <a:pPr algn="l"/>
            <a:r>
              <a:rPr sz="1300" b="0" i="0">
                <a:solidFill>
                  <a:srgbClr val="8B949E"/>
                </a:solidFill>
                <a:latin typeface="Arial"/>
              </a:rPr>
              <a:t>@holdfastprotocol
/sdk@devnet</a:t>
            </a:r>
          </a:p>
        </p:txBody>
      </p:sp>
      <p:sp>
        <p:nvSpPr>
          <p:cNvPr id="34" name="Rectangle 33"/>
          <p:cNvSpPr/>
          <p:nvPr/>
        </p:nvSpPr>
        <p:spPr>
          <a:xfrm>
            <a:off x="8138160" y="31546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3246120"/>
            <a:ext cx="3291840" cy="411480"/>
          </a:xfrm>
          <a:prstGeom prst="rect">
            <a:avLst/>
          </a:prstGeom>
          <a:noFill/>
        </p:spPr>
        <p:txBody>
          <a:bodyPr wrap="square">
            <a:spAutoFit/>
          </a:bodyPr>
          <a:lstStyle/>
          <a:p>
            <a:pPr algn="l"/>
            <a:r>
              <a:rPr sz="1500" b="1" i="0">
                <a:solidFill>
                  <a:srgbClr val="FFFFFF"/>
                </a:solidFill>
                <a:latin typeface="Arial"/>
              </a:rPr>
              <a:t>Docs</a:t>
            </a:r>
          </a:p>
        </p:txBody>
      </p:sp>
      <p:sp>
        <p:nvSpPr>
          <p:cNvPr id="36" name="TextBox 35"/>
          <p:cNvSpPr txBox="1"/>
          <p:nvPr/>
        </p:nvSpPr>
        <p:spPr>
          <a:xfrm>
            <a:off x="8275320" y="3657600"/>
            <a:ext cx="3291840" cy="640080"/>
          </a:xfrm>
          <a:prstGeom prst="rect">
            <a:avLst/>
          </a:prstGeom>
          <a:noFill/>
        </p:spPr>
        <p:txBody>
          <a:bodyPr wrap="square">
            <a:spAutoFit/>
          </a:bodyPr>
          <a:lstStyle/>
          <a:p>
            <a:pPr algn="l"/>
            <a:r>
              <a:rPr sz="1300" b="0" i="0">
                <a:solidFill>
                  <a:srgbClr val="8B949E"/>
                </a:solidFill>
                <a:latin typeface="Arial"/>
              </a:rPr>
              <a:t>holdfastprotocol.com
/docs</a:t>
            </a:r>
          </a:p>
        </p:txBody>
      </p:sp>
      <p:sp>
        <p:nvSpPr>
          <p:cNvPr id="37" name="Rectangle 36"/>
          <p:cNvSpPr/>
          <p:nvPr/>
        </p:nvSpPr>
        <p:spPr>
          <a:xfrm>
            <a:off x="8138160" y="4526280"/>
            <a:ext cx="3566160" cy="1280160"/>
          </a:xfrm>
          <a:prstGeom prst="rect">
            <a:avLst/>
          </a:prstGeom>
          <a:solidFill>
            <a:srgbClr val="161B22"/>
          </a:solidFill>
          <a:ln w="6350">
            <a:solidFill>
              <a:srgbClr val="212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20" y="4617720"/>
            <a:ext cx="3291840" cy="411480"/>
          </a:xfrm>
          <a:prstGeom prst="rect">
            <a:avLst/>
          </a:prstGeom>
          <a:noFill/>
        </p:spPr>
        <p:txBody>
          <a:bodyPr wrap="square">
            <a:spAutoFit/>
          </a:bodyPr>
          <a:lstStyle/>
          <a:p>
            <a:pPr algn="l"/>
            <a:r>
              <a:rPr sz="1500" b="1" i="0">
                <a:solidFill>
                  <a:srgbClr val="FFFFFF"/>
                </a:solidFill>
                <a:latin typeface="Arial"/>
              </a:rPr>
              <a:t>Contact</a:t>
            </a:r>
          </a:p>
        </p:txBody>
      </p:sp>
      <p:sp>
        <p:nvSpPr>
          <p:cNvPr id="39" name="TextBox 38"/>
          <p:cNvSpPr txBox="1"/>
          <p:nvPr/>
        </p:nvSpPr>
        <p:spPr>
          <a:xfrm>
            <a:off x="8275320" y="5029200"/>
            <a:ext cx="3291840" cy="640080"/>
          </a:xfrm>
          <a:prstGeom prst="rect">
            <a:avLst/>
          </a:prstGeom>
          <a:noFill/>
        </p:spPr>
        <p:txBody>
          <a:bodyPr wrap="square">
            <a:spAutoFit/>
          </a:bodyPr>
          <a:lstStyle/>
          <a:p>
            <a:pPr algn="l"/>
            <a:r>
              <a:rPr sz="1300" b="0" i="0">
                <a:solidFill>
                  <a:srgbClr val="8B949E"/>
                </a:solidFill>
                <a:latin typeface="Arial"/>
              </a:rPr>
              <a:t>Find us at the
conference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6537960"/>
            <a:ext cx="12191695"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556248"/>
            <a:ext cx="11612880" cy="274320"/>
          </a:xfrm>
          <a:prstGeom prst="rect">
            <a:avLst/>
          </a:prstGeom>
          <a:noFill/>
        </p:spPr>
        <p:txBody>
          <a:bodyPr wrap="square">
            <a:spAutoFit/>
          </a:bodyPr>
          <a:lstStyle/>
          <a:p>
            <a:pPr algn="l"/>
            <a:r>
              <a:rPr sz="1000" b="0" i="0">
                <a:solidFill>
                  <a:srgbClr val="8B949E"/>
                </a:solidFill>
                <a:latin typeface="Arial"/>
              </a:rPr>
              <a:t>Casemate Labs  ·  holdfastprotocol.com  ·  @CasemateLabs</a:t>
            </a:r>
          </a:p>
        </p:txBody>
      </p:sp>
      <p:sp>
        <p:nvSpPr>
          <p:cNvPr id="4" name="TextBox 3"/>
          <p:cNvSpPr txBox="1"/>
          <p:nvPr/>
        </p:nvSpPr>
        <p:spPr>
          <a:xfrm>
            <a:off x="9601200" y="137160"/>
            <a:ext cx="2377440" cy="320040"/>
          </a:xfrm>
          <a:prstGeom prst="rect">
            <a:avLst/>
          </a:prstGeom>
          <a:noFill/>
        </p:spPr>
        <p:txBody>
          <a:bodyPr wrap="square">
            <a:spAutoFit/>
          </a:bodyPr>
          <a:lstStyle/>
          <a:p>
            <a:pPr algn="r"/>
            <a:r>
              <a:rPr sz="1100" b="0" i="0">
                <a:solidFill>
                  <a:srgbClr val="8B949E"/>
                </a:solidFill>
                <a:latin typeface="Arial"/>
              </a:rPr>
              <a:t>13  Call to Action</a:t>
            </a:r>
          </a:p>
        </p:txBody>
      </p:sp>
      <p:sp>
        <p:nvSpPr>
          <p:cNvPr id="5" name="Rectangle 4"/>
          <p:cNvSpPr/>
          <p:nvPr/>
        </p:nvSpPr>
        <p:spPr>
          <a:xfrm>
            <a:off x="0" y="0"/>
            <a:ext cx="73152" cy="68580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10972800" cy="685800"/>
          </a:xfrm>
          <a:prstGeom prst="rect">
            <a:avLst/>
          </a:prstGeom>
          <a:noFill/>
        </p:spPr>
        <p:txBody>
          <a:bodyPr wrap="square">
            <a:spAutoFit/>
          </a:bodyPr>
          <a:lstStyle/>
          <a:p>
            <a:pPr algn="l"/>
            <a:r>
              <a:rPr sz="4000" b="1" i="0">
                <a:solidFill>
                  <a:srgbClr val="FFFFFF"/>
                </a:solidFill>
                <a:latin typeface="Arial"/>
              </a:rPr>
              <a:t>Build with Holdfast Protocol today.</a:t>
            </a:r>
          </a:p>
        </p:txBody>
      </p:sp>
      <p:sp>
        <p:nvSpPr>
          <p:cNvPr id="7" name="Rectangle 6"/>
          <p:cNvSpPr/>
          <p:nvPr/>
        </p:nvSpPr>
        <p:spPr>
          <a:xfrm>
            <a:off x="457200" y="1234440"/>
            <a:ext cx="11247120" cy="594360"/>
          </a:xfrm>
          <a:prstGeom prst="rect">
            <a:avLst/>
          </a:prstGeom>
          <a:solidFill>
            <a:srgbClr val="161B22"/>
          </a:solidFill>
          <a:ln w="1905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07592"/>
            <a:ext cx="10972800" cy="457200"/>
          </a:xfrm>
          <a:prstGeom prst="rect">
            <a:avLst/>
          </a:prstGeom>
          <a:noFill/>
        </p:spPr>
        <p:txBody>
          <a:bodyPr wrap="square">
            <a:spAutoFit/>
          </a:bodyPr>
          <a:lstStyle/>
          <a:p>
            <a:pPr algn="ctr"/>
            <a:r>
              <a:rPr sz="2200" b="1" i="0">
                <a:solidFill>
                  <a:srgbClr val="14F195"/>
                </a:solidFill>
                <a:latin typeface="Arial"/>
              </a:rPr>
              <a:t>npm install @holdfastprotocol/sdk@devnet</a:t>
            </a:r>
          </a:p>
        </p:txBody>
      </p:sp>
      <p:sp>
        <p:nvSpPr>
          <p:cNvPr id="9" name="Rectangle 8"/>
          <p:cNvSpPr/>
          <p:nvPr/>
        </p:nvSpPr>
        <p:spPr>
          <a:xfrm>
            <a:off x="457200" y="1965960"/>
            <a:ext cx="11277295" cy="25400"/>
          </a:xfrm>
          <a:prstGeom prst="rect">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03120"/>
            <a:ext cx="3657600" cy="3200400"/>
          </a:xfrm>
          <a:prstGeom prst="rect">
            <a:avLst/>
          </a:prstGeom>
          <a:solidFill>
            <a:srgbClr val="161B22"/>
          </a:solidFill>
          <a:ln w="25400">
            <a:solidFill>
              <a:srgbClr val="14F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03120"/>
            <a:ext cx="3657600" cy="64008"/>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40280"/>
            <a:ext cx="3383280" cy="548640"/>
          </a:xfrm>
          <a:prstGeom prst="rect">
            <a:avLst/>
          </a:prstGeom>
          <a:noFill/>
        </p:spPr>
        <p:txBody>
          <a:bodyPr wrap="square">
            <a:spAutoFit/>
          </a:bodyPr>
          <a:lstStyle/>
          <a:p>
            <a:pPr algn="l"/>
            <a:r>
              <a:rPr sz="1800" b="1" i="0">
                <a:solidFill>
                  <a:srgbClr val="14F195"/>
                </a:solidFill>
                <a:latin typeface="Arial"/>
              </a:rPr>
              <a:t>1.  Try the SDK</a:t>
            </a:r>
          </a:p>
        </p:txBody>
      </p:sp>
      <p:sp>
        <p:nvSpPr>
          <p:cNvPr id="13" name="TextBox 12"/>
          <p:cNvSpPr txBox="1"/>
          <p:nvPr/>
        </p:nvSpPr>
        <p:spPr>
          <a:xfrm>
            <a:off x="594360" y="2834640"/>
            <a:ext cx="3383280" cy="2286000"/>
          </a:xfrm>
          <a:prstGeom prst="rect">
            <a:avLst/>
          </a:prstGeom>
          <a:noFill/>
        </p:spPr>
        <p:txBody>
          <a:bodyPr wrap="square">
            <a:spAutoFit/>
          </a:bodyPr>
          <a:lstStyle/>
          <a:p>
            <a:pPr algn="l"/>
            <a:r>
              <a:rPr sz="1500" b="0" i="0">
                <a:solidFill>
                  <a:srgbClr val="FFFFFF"/>
                </a:solidFill>
                <a:latin typeface="Arial"/>
              </a:rPr>
              <a:t>devnet · no token · no mainnet risk
npm install @holdfastprotocol/sdk@devnet
holdfastprotocol.com/docs</a:t>
            </a:r>
          </a:p>
        </p:txBody>
      </p:sp>
      <p:sp>
        <p:nvSpPr>
          <p:cNvPr id="14" name="Rectangle 13"/>
          <p:cNvSpPr/>
          <p:nvPr/>
        </p:nvSpPr>
        <p:spPr>
          <a:xfrm>
            <a:off x="4389120" y="2103120"/>
            <a:ext cx="3657600" cy="3200400"/>
          </a:xfrm>
          <a:prstGeom prst="rect">
            <a:avLst/>
          </a:prstGeom>
          <a:solidFill>
            <a:srgbClr val="161B22"/>
          </a:solidFill>
          <a:ln w="25400">
            <a:solidFill>
              <a:srgbClr val="994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103120"/>
            <a:ext cx="3657600" cy="64008"/>
          </a:xfrm>
          <a:prstGeom prst="rect">
            <a:avLst/>
          </a:prstGeom>
          <a:solidFill>
            <a:srgbClr val="994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240280"/>
            <a:ext cx="3383280" cy="548640"/>
          </a:xfrm>
          <a:prstGeom prst="rect">
            <a:avLst/>
          </a:prstGeom>
          <a:noFill/>
        </p:spPr>
        <p:txBody>
          <a:bodyPr wrap="square">
            <a:spAutoFit/>
          </a:bodyPr>
          <a:lstStyle/>
          <a:p>
            <a:pPr algn="l"/>
            <a:r>
              <a:rPr sz="1800" b="1" i="0">
                <a:solidFill>
                  <a:srgbClr val="9945FF"/>
                </a:solidFill>
                <a:latin typeface="Arial"/>
              </a:rPr>
              <a:t>2.  Partner with us</a:t>
            </a:r>
          </a:p>
        </p:txBody>
      </p:sp>
      <p:sp>
        <p:nvSpPr>
          <p:cNvPr id="17" name="TextBox 16"/>
          <p:cNvSpPr txBox="1"/>
          <p:nvPr/>
        </p:nvSpPr>
        <p:spPr>
          <a:xfrm>
            <a:off x="4526280" y="2834640"/>
            <a:ext cx="3383280" cy="2286000"/>
          </a:xfrm>
          <a:prstGeom prst="rect">
            <a:avLst/>
          </a:prstGeom>
          <a:noFill/>
        </p:spPr>
        <p:txBody>
          <a:bodyPr wrap="square">
            <a:spAutoFit/>
          </a:bodyPr>
          <a:lstStyle/>
          <a:p>
            <a:pPr algn="l"/>
            <a:r>
              <a:rPr sz="1500" b="0" i="0">
                <a:solidFill>
                  <a:srgbClr val="FFFFFF"/>
                </a:solidFill>
                <a:latin typeface="Arial"/>
              </a:rPr>
              <a:t>ElizaOS · Solana Agent Kit · DeFi protocols
Talk to us today
at the conference</a:t>
            </a:r>
          </a:p>
        </p:txBody>
      </p:sp>
      <p:sp>
        <p:nvSpPr>
          <p:cNvPr id="18" name="Rectangle 17"/>
          <p:cNvSpPr/>
          <p:nvPr/>
        </p:nvSpPr>
        <p:spPr>
          <a:xfrm>
            <a:off x="8321040" y="2103120"/>
            <a:ext cx="3657600" cy="3200400"/>
          </a:xfrm>
          <a:prstGeom prst="rect">
            <a:avLst/>
          </a:prstGeom>
          <a:solidFill>
            <a:srgbClr val="161B22"/>
          </a:solidFill>
          <a:ln w="2540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2103120"/>
            <a:ext cx="36576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2240280"/>
            <a:ext cx="3383280" cy="548640"/>
          </a:xfrm>
          <a:prstGeom prst="rect">
            <a:avLst/>
          </a:prstGeom>
          <a:noFill/>
        </p:spPr>
        <p:txBody>
          <a:bodyPr wrap="square">
            <a:spAutoFit/>
          </a:bodyPr>
          <a:lstStyle/>
          <a:p>
            <a:pPr algn="l"/>
            <a:r>
              <a:rPr sz="1800" b="1" i="0">
                <a:solidFill>
                  <a:srgbClr val="FFA500"/>
                </a:solidFill>
                <a:latin typeface="Arial"/>
              </a:rPr>
              <a:t>3.  Follow for mainnet</a:t>
            </a:r>
          </a:p>
        </p:txBody>
      </p:sp>
      <p:sp>
        <p:nvSpPr>
          <p:cNvPr id="21" name="TextBox 20"/>
          <p:cNvSpPr txBox="1"/>
          <p:nvPr/>
        </p:nvSpPr>
        <p:spPr>
          <a:xfrm>
            <a:off x="8458200" y="2834640"/>
            <a:ext cx="3383280" cy="2286000"/>
          </a:xfrm>
          <a:prstGeom prst="rect">
            <a:avLst/>
          </a:prstGeom>
          <a:noFill/>
        </p:spPr>
        <p:txBody>
          <a:bodyPr wrap="square">
            <a:spAutoFit/>
          </a:bodyPr>
          <a:lstStyle/>
          <a:p>
            <a:pPr algn="l"/>
            <a:r>
              <a:rPr sz="1500" b="0" i="0">
                <a:solidFill>
                  <a:srgbClr val="FFFFFF"/>
                </a:solidFill>
                <a:latin typeface="Arial"/>
              </a:rPr>
              <a:t>Audit in progress · Mainnet post-audit
@CasemateLabs
for timeline updates</a:t>
            </a:r>
          </a:p>
        </p:txBody>
      </p:sp>
      <p:sp>
        <p:nvSpPr>
          <p:cNvPr id="22" name="TextBox 21"/>
          <p:cNvSpPr txBox="1"/>
          <p:nvPr/>
        </p:nvSpPr>
        <p:spPr>
          <a:xfrm>
            <a:off x="457200" y="5440680"/>
            <a:ext cx="11247120" cy="457200"/>
          </a:xfrm>
          <a:prstGeom prst="rect">
            <a:avLst/>
          </a:prstGeom>
          <a:noFill/>
        </p:spPr>
        <p:txBody>
          <a:bodyPr wrap="square">
            <a:spAutoFit/>
          </a:bodyPr>
          <a:lstStyle/>
          <a:p>
            <a:pPr algn="ctr"/>
            <a:r>
              <a:rPr sz="1700" b="0" i="1">
                <a:solidFill>
                  <a:srgbClr val="14F195"/>
                </a:solidFill>
                <a:latin typeface="Arial"/>
              </a:rPr>
              <a:t>"The programs are live. The SDK is published. Devnet is open."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10972800" cy="1005840"/>
          </a:xfrm>
          <a:prstGeom prst="rect">
            <a:avLst/>
          </a:prstGeom>
          <a:noFill/>
        </p:spPr>
        <p:txBody>
          <a:bodyPr wrap="square">
            <a:spAutoFit/>
          </a:bodyPr>
          <a:lstStyle/>
          <a:p>
            <a:pPr algn="ctr"/>
            <a:r>
              <a:rPr sz="5800" b="1" i="0">
                <a:solidFill>
                  <a:srgbClr val="FFFFFF"/>
                </a:solidFill>
                <a:latin typeface="Arial"/>
              </a:rPr>
              <a:t>Holdfast Protocol</a:t>
            </a:r>
          </a:p>
        </p:txBody>
      </p:sp>
      <p:sp>
        <p:nvSpPr>
          <p:cNvPr id="4" name="TextBox 3"/>
          <p:cNvSpPr txBox="1"/>
          <p:nvPr/>
        </p:nvSpPr>
        <p:spPr>
          <a:xfrm>
            <a:off x="457200" y="2103120"/>
            <a:ext cx="10972800" cy="502920"/>
          </a:xfrm>
          <a:prstGeom prst="rect">
            <a:avLst/>
          </a:prstGeom>
          <a:noFill/>
        </p:spPr>
        <p:txBody>
          <a:bodyPr wrap="square">
            <a:spAutoFit/>
          </a:bodyPr>
          <a:lstStyle/>
          <a:p>
            <a:pPr algn="ctr"/>
            <a:r>
              <a:rPr sz="2200" b="0" i="0">
                <a:solidFill>
                  <a:srgbClr val="14F195"/>
                </a:solidFill>
                <a:latin typeface="Arial"/>
              </a:rPr>
              <a:t>Trust infrastructure for the AI agent economy.</a:t>
            </a:r>
          </a:p>
        </p:txBody>
      </p:sp>
      <p:sp>
        <p:nvSpPr>
          <p:cNvPr id="5" name="Rectangle 4"/>
          <p:cNvSpPr/>
          <p:nvPr/>
        </p:nvSpPr>
        <p:spPr>
          <a:xfrm>
            <a:off x="457200" y="2788920"/>
            <a:ext cx="11277295" cy="25400"/>
          </a:xfrm>
          <a:prstGeom prst="rect">
            <a:avLst/>
          </a:prstGeom>
          <a:solidFill>
            <a:srgbClr val="14F1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71800"/>
            <a:ext cx="10972800" cy="411480"/>
          </a:xfrm>
          <a:prstGeom prst="rect">
            <a:avLst/>
          </a:prstGeom>
          <a:noFill/>
        </p:spPr>
        <p:txBody>
          <a:bodyPr wrap="square">
            <a:spAutoFit/>
          </a:bodyPr>
          <a:lstStyle/>
          <a:p>
            <a:pPr algn="ctr"/>
            <a:r>
              <a:rPr sz="1800" b="0" i="0">
                <a:solidFill>
                  <a:srgbClr val="FFFFFF"/>
                </a:solidFill>
                <a:latin typeface="Arial"/>
              </a:rPr>
              <a:t>Casemate Labs  ·  holdfastprotocol.com</a:t>
            </a:r>
          </a:p>
        </p:txBody>
      </p:sp>
      <p:sp>
        <p:nvSpPr>
          <p:cNvPr id="7" name="TextBox 6"/>
          <p:cNvSpPr txBox="1"/>
          <p:nvPr/>
        </p:nvSpPr>
        <p:spPr>
          <a:xfrm>
            <a:off x="457200" y="3429000"/>
            <a:ext cx="10972800" cy="411480"/>
          </a:xfrm>
          <a:prstGeom prst="rect">
            <a:avLst/>
          </a:prstGeom>
          <a:noFill/>
        </p:spPr>
        <p:txBody>
          <a:bodyPr wrap="square">
            <a:spAutoFit/>
          </a:bodyPr>
          <a:lstStyle/>
          <a:p>
            <a:pPr algn="ctr"/>
            <a:r>
              <a:rPr sz="1800" b="0" i="0">
                <a:solidFill>
                  <a:srgbClr val="FFFFFF"/>
                </a:solidFill>
                <a:latin typeface="Arial"/>
              </a:rPr>
              <a:t>@CasemateLabs</a:t>
            </a:r>
          </a:p>
        </p:txBody>
      </p:sp>
      <p:sp>
        <p:nvSpPr>
          <p:cNvPr id="8" name="TextBox 7"/>
          <p:cNvSpPr txBox="1"/>
          <p:nvPr/>
        </p:nvSpPr>
        <p:spPr>
          <a:xfrm>
            <a:off x="457200" y="3886200"/>
            <a:ext cx="10972800" cy="411480"/>
          </a:xfrm>
          <a:prstGeom prst="rect">
            <a:avLst/>
          </a:prstGeom>
          <a:noFill/>
        </p:spPr>
        <p:txBody>
          <a:bodyPr wrap="square">
            <a:spAutoFit/>
          </a:bodyPr>
          <a:lstStyle/>
          <a:p>
            <a:pPr algn="ctr"/>
            <a:r>
              <a:rPr sz="1800" b="0" i="0">
                <a:solidFill>
                  <a:srgbClr val="FFFFFF"/>
                </a:solidFill>
                <a:latin typeface="Arial"/>
              </a:rPr>
              <a:t>npm: @holdfastprotocol/sdk@devnet</a:t>
            </a:r>
          </a:p>
        </p:txBody>
      </p:sp>
      <p:sp>
        <p:nvSpPr>
          <p:cNvPr id="9" name="TextBox 8"/>
          <p:cNvSpPr txBox="1"/>
          <p:nvPr/>
        </p:nvSpPr>
        <p:spPr>
          <a:xfrm>
            <a:off x="457200" y="4343400"/>
            <a:ext cx="10972800" cy="594360"/>
          </a:xfrm>
          <a:prstGeom prst="rect">
            <a:avLst/>
          </a:prstGeom>
          <a:noFill/>
        </p:spPr>
        <p:txBody>
          <a:bodyPr wrap="square">
            <a:spAutoFit/>
          </a:bodyPr>
          <a:lstStyle/>
          <a:p>
            <a:pPr algn="ctr"/>
            <a:r>
              <a:rPr sz="3200" b="1" i="0">
                <a:solidFill>
                  <a:srgbClr val="14F195"/>
                </a:solidFill>
                <a:latin typeface="Arial"/>
              </a:rPr>
              <a:t>Questions?</a:t>
            </a:r>
          </a:p>
        </p:txBody>
      </p:sp>
      <p:sp>
        <p:nvSpPr>
          <p:cNvPr id="10" name="Rectangle 9"/>
          <p:cNvSpPr/>
          <p:nvPr/>
        </p:nvSpPr>
        <p:spPr>
          <a:xfrm>
            <a:off x="1371600" y="5212080"/>
            <a:ext cx="9418320" cy="1005840"/>
          </a:xfrm>
          <a:prstGeom prst="rect">
            <a:avLst/>
          </a:prstGeom>
          <a:solidFill>
            <a:srgbClr val="2A1610"/>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5285232"/>
            <a:ext cx="9052560" cy="868680"/>
          </a:xfrm>
          <a:prstGeom prst="rect">
            <a:avLst/>
          </a:prstGeom>
          <a:noFill/>
        </p:spPr>
        <p:txBody>
          <a:bodyPr wrap="square">
            <a:spAutoFit/>
          </a:bodyPr>
          <a:lstStyle/>
          <a:p>
            <a:pPr algn="ctr"/>
            <a:r>
              <a:rPr sz="1300" b="0" i="0">
                <a:solidFill>
                  <a:srgbClr val="FF6B6B"/>
                </a:solidFill>
                <a:latin typeface="Arial"/>
              </a:rPr>
              <a:t>⚠  Pre-audit software. Devnet only.
Not for mainnet or production use.
External security audit in progress.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